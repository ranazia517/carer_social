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CARER — a warm, private, non-clinical wellbeing companion for unpaid family carers. Wellnetix Ltd, UK.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63% say caring harms their mental health; roughly 1 in 5 at risk of burnout; many never even call themselves a carer.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UK: 5.8M carers, £184bn a year — about a second NHS. US: 63M caregivers, up 45% since 2015, $1.01 trillion a year, about 1 in 4 adults.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kinds of carer — different lives, the same quiet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Clinical apps feel medical; wellness apps guilt-trip with streaks and scores; carer services are fragmented. Nothing is built for the carer.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CARER: a warm, private, non-clinical AI companion. Listens, remembers your words — never verdicts — never scores you, and points to real help when you want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moments from the product — screenshots to be dropped into the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Eleven features, one principle: built to hold you, not to manage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written, enforced promises. This is the product's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Four-directional crisis support — free, offline, one tap, before sign-in, independent of the AI. Region-aware resources: UK + US live, safe global fallback. UK GDPR, consent-first, clinical-safety and DPO governance.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On-device AI, a deterministic safety spine outside the warm model — independently red-teamed, all green — portable all-API backend, end-to-end encryption.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Carer-wellbeing research plus lived experience; an enforced constitution; signposting not advice; independently red-teamed. A consent-based foundation for research at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TAM: digital mental health ~$33bn 2025 to ~$180bn 2035 (~18.5% CAGR); apps ~$9bn to ~$23bn by 2030. SAM: ~69M adult carers in launch markets. SOM: early UK wedge via early access and partnerships.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UK first, then US, then more countries — crisis localisation gates each market. Channels: carer charities, NHS and local authorities, employers, app stores, organic. Free removes all friction.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is free — accessibility and trust; crisis support always free. Sustained by an optional supporter tier, donations and partnerships. Never by charging carers or selling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CARER sits alone in the carer-specific, non-clinical, private quadrant. Wedge: carer-specific, non-clinical, on-device privacy, safety-first, anti-guilt.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Feature-complete, safety gates green, region-aware crisis live, website and store kits ready, in early access. Pre-launch — a real, reviewable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Now: UK launch, bundle the on-device model, sign-offs. Next: US, partnerships, research validation. Later: more countries, deeper personalisation, a research platform.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Wellnetix Ltd, UK — a small mission-driven team, governed by a clinical-safety lead, a DPO and a PPIE panel. Names to be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Investors: partner with us. Academics: collaborate on validation. Everyone: join early access. A little light, kept.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cited figure mapped to its source. Market figures are third-party estimates.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4800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4200000" scaled="0"/>
          </a:gra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34375" y="2028825"/>
            <a:ext cx="1619250" cy="16192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05279" y="3971925"/>
            <a:ext cx="3165187" cy="1162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50" spc="150" kern="0" dirty="0">
                <a:solidFill>
                  <a:srgbClr val="8F4E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8850" dirty="0"/>
          </a:p>
        </p:txBody>
      </p:sp>
      <p:sp>
        <p:nvSpPr>
          <p:cNvPr id="5" name="Text 2"/>
          <p:cNvSpPr/>
          <p:nvPr/>
        </p:nvSpPr>
        <p:spPr>
          <a:xfrm>
            <a:off x="7558980" y="5381625"/>
            <a:ext cx="3486961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i="1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little light, kept.</a:t>
            </a:r>
            <a:endParaRPr lang="en-US" sz="3150" dirty="0"/>
          </a:p>
        </p:txBody>
      </p:sp>
      <p:sp>
        <p:nvSpPr>
          <p:cNvPr id="6" name="Text 3"/>
          <p:cNvSpPr/>
          <p:nvPr/>
        </p:nvSpPr>
        <p:spPr>
          <a:xfrm>
            <a:off x="4238625" y="6043613"/>
            <a:ext cx="981075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warm, private, non-clinical wellbeing companion for unpaid family carers.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7243242" y="7262813"/>
            <a:ext cx="1667321" cy="481012"/>
          </a:xfrm>
          <a:prstGeom prst="roundRect">
            <a:avLst>
              <a:gd name="adj" fmla="val 50000"/>
            </a:avLst>
          </a:prstGeom>
          <a:ln w="14288">
            <a:solidFill>
              <a:srgbClr val="5A3D2C">
                <a:alpha val="35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86129" y="7372350"/>
            <a:ext cx="1257746" cy="3000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A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9062963" y="7262813"/>
            <a:ext cx="873547" cy="481012"/>
          </a:xfrm>
          <a:prstGeom prst="roundRect">
            <a:avLst>
              <a:gd name="adj" fmla="val 50000"/>
            </a:avLst>
          </a:prstGeom>
          <a:ln w="14288">
            <a:solidFill>
              <a:srgbClr val="5A3D2C">
                <a:alpha val="35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05851" y="7372350"/>
            <a:ext cx="463972" cy="3000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A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18+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0088910" y="7262813"/>
            <a:ext cx="955849" cy="481012"/>
          </a:xfrm>
          <a:prstGeom prst="roundRect">
            <a:avLst>
              <a:gd name="adj" fmla="val 50000"/>
            </a:avLst>
          </a:prstGeom>
          <a:ln w="14288">
            <a:solidFill>
              <a:srgbClr val="5A3D2C">
                <a:alpha val="35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331797" y="7372350"/>
            <a:ext cx="546274" cy="3000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A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-914400" y="9491663"/>
            <a:ext cx="2011680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spc="150" kern="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Wellnetix Ltd · United Kingdom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200150"/>
            <a:ext cx="883605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633538"/>
            <a:ext cx="8273758" cy="20863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80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Carers hold everyone together, and quietly fall apart.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47750" y="4024685"/>
            <a:ext cx="6278880" cy="1366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22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Unpaid carers are exhausted, isolated and under-supported. The work is relentless — and almost entirely invisible.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937775" y="1047750"/>
            <a:ext cx="7302475" cy="2016398"/>
          </a:xfrm>
          <a:prstGeom prst="roundRect">
            <a:avLst>
              <a:gd name="adj" fmla="val 1228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47350" y="1400175"/>
            <a:ext cx="7131658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63%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10347350" y="2352675"/>
            <a:ext cx="7131658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carers say caring has harmed their mental health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937775" y="3292748"/>
            <a:ext cx="7302475" cy="2016398"/>
          </a:xfrm>
          <a:prstGeom prst="roundRect">
            <a:avLst>
              <a:gd name="adj" fmla="val 1228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347350" y="3645173"/>
            <a:ext cx="7131658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 in 5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10347350" y="4597673"/>
            <a:ext cx="7131658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at risk of burnout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937775" y="5537746"/>
            <a:ext cx="7302475" cy="1055340"/>
          </a:xfrm>
          <a:prstGeom prst="roundRect">
            <a:avLst>
              <a:gd name="adj" fmla="val 23466"/>
            </a:avLst>
          </a:prstGeom>
          <a:gradFill rotWithShape="1">
            <a:gsLst>
              <a:gs pos="0">
                <a:srgbClr val="F4CDA6">
                  <a:alpha val="40000"/>
                </a:srgbClr>
              </a:gs>
              <a:gs pos="100000">
                <a:srgbClr val="D5A3B2">
                  <a:alpha val="35000"/>
                </a:srgbClr>
              </a:gs>
            </a:gsLst>
            <a:lin ang="3600000" scaled="0"/>
          </a:gradFill>
          <a:ln w="9525">
            <a:solidFill>
              <a:srgbClr val="EAD9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47350" y="5852071"/>
            <a:ext cx="7131658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i="1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Many don’t even call themselves a carer.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937775" y="6821686"/>
            <a:ext cx="7521549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Carers UK, State of Caring 2024 · Umbrella review of caregiver mental-health meta-analyses (2025)</a:t>
            </a:r>
            <a:endParaRPr lang="en-US" sz="18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6491645" y="9510713"/>
            <a:ext cx="9200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21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SCALE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vast, invisible, growing population.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30748"/>
            <a:ext cx="7442374" cy="3543300"/>
          </a:xfrm>
          <a:prstGeom prst="roundRect">
            <a:avLst>
              <a:gd name="adj" fmla="val 806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52575" y="2959373"/>
            <a:ext cx="707599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KINGDOM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2575" y="3507060"/>
            <a:ext cx="2299729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5.8M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1552575" y="4535760"/>
            <a:ext cx="229972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unpaid carers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4176638" y="3507060"/>
            <a:ext cx="325858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£184bn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4176638" y="4535760"/>
            <a:ext cx="325858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care each year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1552575" y="5107260"/>
            <a:ext cx="6432724" cy="9525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11" name="Text 9"/>
          <p:cNvSpPr/>
          <p:nvPr/>
        </p:nvSpPr>
        <p:spPr>
          <a:xfrm>
            <a:off x="1552575" y="5345385"/>
            <a:ext cx="6625705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a second NHS.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833024" y="2530748"/>
            <a:ext cx="8407226" cy="3543300"/>
          </a:xfrm>
          <a:prstGeom prst="roundRect">
            <a:avLst>
              <a:gd name="adj" fmla="val 806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37849" y="2959373"/>
            <a:ext cx="813733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STATES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337849" y="3507060"/>
            <a:ext cx="4491491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63M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9337849" y="4535760"/>
            <a:ext cx="449149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caregivers · +45% since 2015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13916323" y="3507060"/>
            <a:ext cx="2817056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$1.01T</a:t>
            </a:r>
            <a:endParaRPr lang="en-US" sz="7200" dirty="0"/>
          </a:p>
        </p:txBody>
      </p:sp>
      <p:sp>
        <p:nvSpPr>
          <p:cNvPr id="17" name="Text 15"/>
          <p:cNvSpPr/>
          <p:nvPr/>
        </p:nvSpPr>
        <p:spPr>
          <a:xfrm>
            <a:off x="13916323" y="4535760"/>
            <a:ext cx="281705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care each year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9337849" y="5107260"/>
            <a:ext cx="7397576" cy="9525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19" name="Text 17"/>
          <p:cNvSpPr/>
          <p:nvPr/>
        </p:nvSpPr>
        <p:spPr>
          <a:xfrm>
            <a:off x="9337849" y="5345385"/>
            <a:ext cx="7619504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Around 1 in 4 adults.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47750" y="6397898"/>
            <a:ext cx="1781175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Carers UK, Key Facts &amp; Figures (2025) · AARP &amp; NAC, Caregiving in the US 2025 · AARP, Valuing the Invaluable (2026 update)</a:t>
            </a:r>
            <a:endParaRPr lang="en-US" sz="18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16489859" y="9510713"/>
            <a:ext cx="92184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21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CARERS ARE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kind of carer.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473598"/>
            <a:ext cx="5232350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9225" y="2806973"/>
            <a:ext cx="152400" cy="152400"/>
          </a:xfrm>
          <a:prstGeom prst="ellipse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100000">
                <a:srgbClr val="E4A79E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6" name="Text 4"/>
          <p:cNvSpPr/>
          <p:nvPr/>
        </p:nvSpPr>
        <p:spPr>
          <a:xfrm>
            <a:off x="1419225" y="3149873"/>
            <a:ext cx="4624082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Caring for a parent through dementia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527750" y="2473598"/>
            <a:ext cx="5232425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99225" y="2806973"/>
            <a:ext cx="152400" cy="152400"/>
          </a:xfrm>
          <a:prstGeom prst="ellipse">
            <a:avLst/>
          </a:prstGeom>
          <a:gradFill rotWithShape="1">
            <a:gsLst>
              <a:gs pos="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9" name="Text 7"/>
          <p:cNvSpPr/>
          <p:nvPr/>
        </p:nvSpPr>
        <p:spPr>
          <a:xfrm>
            <a:off x="6899225" y="3149873"/>
            <a:ext cx="4624159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Caring for a partner through cancer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2007825" y="2473598"/>
            <a:ext cx="5232350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379300" y="2806973"/>
            <a:ext cx="152400" cy="152400"/>
          </a:xfrm>
          <a:prstGeom prst="ellipse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12" name="Text 10"/>
          <p:cNvSpPr/>
          <p:nvPr/>
        </p:nvSpPr>
        <p:spPr>
          <a:xfrm>
            <a:off x="12379300" y="3149873"/>
            <a:ext cx="4624082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parent of a disabled or autistic child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047750" y="4492898"/>
            <a:ext cx="5232350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19225" y="4826273"/>
            <a:ext cx="152400" cy="152400"/>
          </a:xfrm>
          <a:prstGeom prst="ellipse">
            <a:avLst/>
          </a:prstGeom>
          <a:gradFill rotWithShape="1">
            <a:gsLst>
              <a:gs pos="0">
                <a:srgbClr val="D5A3B2">
                  <a:alpha val="100000"/>
                </a:srgbClr>
              </a:gs>
              <a:gs pos="100000">
                <a:srgbClr val="E4A79E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15" name="Text 13"/>
          <p:cNvSpPr/>
          <p:nvPr/>
        </p:nvSpPr>
        <p:spPr>
          <a:xfrm>
            <a:off x="1419225" y="5169173"/>
            <a:ext cx="4624082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parent of an adult child living with mental illness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527750" y="4492898"/>
            <a:ext cx="5232425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99225" y="4826273"/>
            <a:ext cx="152400" cy="152400"/>
          </a:xfrm>
          <a:prstGeom prst="ellipse">
            <a:avLst/>
          </a:prstGeom>
          <a:gradFill rotWithShape="1">
            <a:gsLst>
              <a:gs pos="0">
                <a:srgbClr val="E4A79E">
                  <a:alpha val="100000"/>
                </a:srgbClr>
              </a:gs>
              <a:gs pos="100000">
                <a:srgbClr val="F4CDA6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18" name="Text 16"/>
          <p:cNvSpPr/>
          <p:nvPr/>
        </p:nvSpPr>
        <p:spPr>
          <a:xfrm>
            <a:off x="6899225" y="5169173"/>
            <a:ext cx="4624159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young-adult carer, just turned 18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12007825" y="4492898"/>
            <a:ext cx="5232350" cy="1771650"/>
          </a:xfrm>
          <a:prstGeom prst="roundRect">
            <a:avLst>
              <a:gd name="adj" fmla="val 1290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79300" y="4826273"/>
            <a:ext cx="152400" cy="152400"/>
          </a:xfrm>
          <a:prstGeom prst="ellipse">
            <a:avLst/>
          </a:prstGeom>
          <a:gradFill rotWithShape="1">
            <a:gsLst>
              <a:gs pos="0">
                <a:srgbClr val="D5A3B2">
                  <a:alpha val="100000"/>
                </a:srgbClr>
              </a:gs>
              <a:gs pos="100000">
                <a:srgbClr val="F4CDA6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21" name="Text 19"/>
          <p:cNvSpPr/>
          <p:nvPr/>
        </p:nvSpPr>
        <p:spPr>
          <a:xfrm>
            <a:off x="12379300" y="5169173"/>
            <a:ext cx="493834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Someone in the after of loss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238125" y="6683648"/>
            <a:ext cx="1781175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55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lives, the same quiet weight.</a:t>
            </a:r>
            <a:endParaRPr lang="en-US" sz="255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16483385" y="9510713"/>
            <a:ext cx="92831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21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TODAY’S SUPPORT FAILS THEM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Nothing is built for the carer.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68848"/>
            <a:ext cx="5194250" cy="2747963"/>
          </a:xfrm>
          <a:prstGeom prst="roundRect">
            <a:avLst>
              <a:gd name="adj" fmla="val 970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14475" y="3016523"/>
            <a:ext cx="4686880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Clinical apps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514475" y="3668985"/>
            <a:ext cx="4388624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 medical and judgy — built around symptoms and diagnoses, not a carer’s life.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546800" y="2568848"/>
            <a:ext cx="5194325" cy="2747963"/>
          </a:xfrm>
          <a:prstGeom prst="roundRect">
            <a:avLst>
              <a:gd name="adj" fmla="val 970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13525" y="3016523"/>
            <a:ext cx="4686962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Wellness apps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013525" y="3668985"/>
            <a:ext cx="4388701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Pile on streaks, scores and guilt — one more thing to fail at on a hard day.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2045925" y="2568848"/>
            <a:ext cx="5194325" cy="2747963"/>
          </a:xfrm>
          <a:prstGeom prst="roundRect">
            <a:avLst>
              <a:gd name="adj" fmla="val 970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2650" y="3016523"/>
            <a:ext cx="4686962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 services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2512650" y="3668985"/>
            <a:ext cx="4388701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and hard to reach — postcode lotteries, waiting lists, forms.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238125" y="5850210"/>
            <a:ext cx="1781175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70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Carers don’t need another to-do list.</a:t>
            </a:r>
            <a:endParaRPr lang="en-US" sz="27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6495440" y="9510713"/>
            <a:ext cx="91626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21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4800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047750" y="2348359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4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81746"/>
            <a:ext cx="13735050" cy="1645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55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look after them. CARER looks after a little of you.</a:t>
            </a:r>
            <a:endParaRPr lang="en-US" sz="5550" dirty="0"/>
          </a:p>
        </p:txBody>
      </p:sp>
      <p:sp>
        <p:nvSpPr>
          <p:cNvPr id="5" name="Shape 3"/>
          <p:cNvSpPr/>
          <p:nvPr/>
        </p:nvSpPr>
        <p:spPr>
          <a:xfrm>
            <a:off x="1047750" y="4998393"/>
            <a:ext cx="3848100" cy="1440061"/>
          </a:xfrm>
          <a:prstGeom prst="roundRect">
            <a:avLst>
              <a:gd name="adj" fmla="val 15874"/>
            </a:avLst>
          </a:prstGeom>
          <a:solidFill>
            <a:srgbClr val="FAF2E8">
              <a:alpha val="72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00175" y="5331768"/>
            <a:ext cx="3258693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companion that listens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162550" y="4998393"/>
            <a:ext cx="3848100" cy="1440061"/>
          </a:xfrm>
          <a:prstGeom prst="roundRect">
            <a:avLst>
              <a:gd name="adj" fmla="val 15874"/>
            </a:avLst>
          </a:prstGeom>
          <a:solidFill>
            <a:srgbClr val="FAF2E8">
              <a:alpha val="72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14975" y="5331768"/>
            <a:ext cx="3258693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Remembers your words — never verdicts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277350" y="4998393"/>
            <a:ext cx="3848100" cy="1440061"/>
          </a:xfrm>
          <a:prstGeom prst="roundRect">
            <a:avLst>
              <a:gd name="adj" fmla="val 15874"/>
            </a:avLst>
          </a:prstGeom>
          <a:solidFill>
            <a:srgbClr val="FAF2E8">
              <a:alpha val="72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29775" y="5331768"/>
            <a:ext cx="3258693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scores you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3392150" y="4998393"/>
            <a:ext cx="3848100" cy="1440061"/>
          </a:xfrm>
          <a:prstGeom prst="roundRect">
            <a:avLst>
              <a:gd name="adj" fmla="val 15874"/>
            </a:avLst>
          </a:prstGeom>
          <a:solidFill>
            <a:srgbClr val="FAF2E8">
              <a:alpha val="72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44575" y="5331768"/>
            <a:ext cx="3258693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to real help, when you want it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047750" y="7009954"/>
            <a:ext cx="1781175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i="1" dirty="0">
                <a:solidFill>
                  <a:srgbClr val="5F4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little light, kept.</a:t>
            </a:r>
            <a:endParaRPr lang="en-US" sz="28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F4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6489338" y="9510713"/>
            <a:ext cx="92236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21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EXPERIENCE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feels like.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2705100" y="2279303"/>
            <a:ext cx="2819400" cy="5334000"/>
          </a:xfrm>
          <a:prstGeom prst="roundRect">
            <a:avLst>
              <a:gd name="adj" fmla="val 14865"/>
            </a:avLst>
          </a:prstGeom>
          <a:solidFill>
            <a:srgbClr val="3A2B21"/>
          </a:solidFill>
          <a:ln/>
          <a:effectLst>
            <a:outerShdw sx="100000" sy="100000" kx="0" ky="0" algn="bl" rotWithShape="0" blurRad="457200" dist="228600" dir="5400000">
              <a:srgbClr val="4A3528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800350" y="2374553"/>
            <a:ext cx="2628900" cy="5143500"/>
          </a:xfrm>
          <a:prstGeom prst="roundRect">
            <a:avLst>
              <a:gd name="adj" fmla="val 12681"/>
            </a:avLst>
          </a:prstGeom>
          <a:solidFill>
            <a:srgbClr val="F3E5D3"/>
          </a:solidFill>
          <a:ln/>
        </p:spPr>
      </p:sp>
      <p:sp>
        <p:nvSpPr>
          <p:cNvPr id="6" name="Text 4"/>
          <p:cNvSpPr/>
          <p:nvPr/>
        </p:nvSpPr>
        <p:spPr>
          <a:xfrm>
            <a:off x="3426619" y="4812953"/>
            <a:ext cx="15139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8E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screen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72519" y="7822853"/>
            <a:ext cx="295293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companion that listens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057900" y="2279303"/>
            <a:ext cx="2819400" cy="5334000"/>
          </a:xfrm>
          <a:prstGeom prst="roundRect">
            <a:avLst>
              <a:gd name="adj" fmla="val 14865"/>
            </a:avLst>
          </a:prstGeom>
          <a:solidFill>
            <a:srgbClr val="3A2B21"/>
          </a:solidFill>
          <a:ln/>
          <a:effectLst>
            <a:outerShdw sx="100000" sy="100000" kx="0" ky="0" algn="bl" rotWithShape="0" blurRad="457200" dist="228600" dir="5400000">
              <a:srgbClr val="4A3528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53150" y="2374553"/>
            <a:ext cx="2628900" cy="5143500"/>
          </a:xfrm>
          <a:prstGeom prst="roundRect">
            <a:avLst>
              <a:gd name="adj" fmla="val 12681"/>
            </a:avLst>
          </a:prstGeom>
          <a:solidFill>
            <a:srgbClr val="F3E5D3"/>
          </a:solidFill>
          <a:ln/>
        </p:spPr>
      </p:sp>
      <p:sp>
        <p:nvSpPr>
          <p:cNvPr id="10" name="Text 8"/>
          <p:cNvSpPr/>
          <p:nvPr/>
        </p:nvSpPr>
        <p:spPr>
          <a:xfrm>
            <a:off x="6779419" y="4812953"/>
            <a:ext cx="15139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8E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screen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81936" y="7822853"/>
            <a:ext cx="304846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words, remembered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410700" y="2279303"/>
            <a:ext cx="2819400" cy="5334000"/>
          </a:xfrm>
          <a:prstGeom prst="roundRect">
            <a:avLst>
              <a:gd name="adj" fmla="val 14865"/>
            </a:avLst>
          </a:prstGeom>
          <a:solidFill>
            <a:srgbClr val="3A2B21"/>
          </a:solidFill>
          <a:ln/>
          <a:effectLst>
            <a:outerShdw sx="100000" sy="100000" kx="0" ky="0" algn="bl" rotWithShape="0" blurRad="457200" dist="228600" dir="5400000">
              <a:srgbClr val="4A3528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505950" y="2374553"/>
            <a:ext cx="2628900" cy="5143500"/>
          </a:xfrm>
          <a:prstGeom prst="roundRect">
            <a:avLst>
              <a:gd name="adj" fmla="val 12681"/>
            </a:avLst>
          </a:prstGeom>
          <a:solidFill>
            <a:srgbClr val="F3E5D3"/>
          </a:solidFill>
          <a:ln/>
        </p:spPr>
      </p:sp>
      <p:sp>
        <p:nvSpPr>
          <p:cNvPr id="14" name="Text 12"/>
          <p:cNvSpPr/>
          <p:nvPr/>
        </p:nvSpPr>
        <p:spPr>
          <a:xfrm>
            <a:off x="10132219" y="4812953"/>
            <a:ext cx="15139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8E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screen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567937" y="7822853"/>
            <a:ext cx="275533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scores. No streaks.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2763500" y="2279303"/>
            <a:ext cx="2819400" cy="5334000"/>
          </a:xfrm>
          <a:prstGeom prst="roundRect">
            <a:avLst>
              <a:gd name="adj" fmla="val 14865"/>
            </a:avLst>
          </a:prstGeom>
          <a:solidFill>
            <a:srgbClr val="3A2B21"/>
          </a:solidFill>
          <a:ln/>
          <a:effectLst>
            <a:outerShdw sx="100000" sy="100000" kx="0" ky="0" algn="bl" rotWithShape="0" blurRad="457200" dist="228600" dir="5400000">
              <a:srgbClr val="4A3528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2858750" y="2374553"/>
            <a:ext cx="2628900" cy="5143500"/>
          </a:xfrm>
          <a:prstGeom prst="roundRect">
            <a:avLst>
              <a:gd name="adj" fmla="val 12681"/>
            </a:avLst>
          </a:prstGeom>
          <a:solidFill>
            <a:srgbClr val="F3E5D3"/>
          </a:solidFill>
          <a:ln/>
        </p:spPr>
      </p:sp>
      <p:sp>
        <p:nvSpPr>
          <p:cNvPr id="18" name="Text 16"/>
          <p:cNvSpPr/>
          <p:nvPr/>
        </p:nvSpPr>
        <p:spPr>
          <a:xfrm>
            <a:off x="13485019" y="4812953"/>
            <a:ext cx="15139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8E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screen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113097" y="7822853"/>
            <a:ext cx="233222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Help, one tap away</a:t>
            </a:r>
            <a:endParaRPr lang="en-US" sz="19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6506155" y="9510713"/>
            <a:ext cx="90554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21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to hold you, not to manage you.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2279303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23975" y="2536478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Companion chat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323975" y="2907953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warm voice that listens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148263" y="2279303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24488" y="2536478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2025" dirty="0"/>
          </a:p>
        </p:txBody>
      </p:sp>
      <p:sp>
        <p:nvSpPr>
          <p:cNvPr id="9" name="Text 7"/>
          <p:cNvSpPr/>
          <p:nvPr/>
        </p:nvSpPr>
        <p:spPr>
          <a:xfrm>
            <a:off x="5424488" y="2907953"/>
            <a:ext cx="343866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your words, never verdicts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248775" y="2279303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2536478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No-score reflection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9525000" y="2907953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Notice, without measuring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349288" y="2279303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625513" y="2536478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private space</a:t>
            </a:r>
            <a:endParaRPr lang="en-US" sz="2025" dirty="0"/>
          </a:p>
        </p:txBody>
      </p:sp>
      <p:sp>
        <p:nvSpPr>
          <p:cNvPr id="15" name="Text 13"/>
          <p:cNvSpPr/>
          <p:nvPr/>
        </p:nvSpPr>
        <p:spPr>
          <a:xfrm>
            <a:off x="13625513" y="2907953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Yours alone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4014639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23975" y="4271814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grief space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1323975" y="4643289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after of loss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148263" y="4014639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24488" y="4271814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journey</a:t>
            </a:r>
            <a:endParaRPr lang="en-US" sz="2025" dirty="0"/>
          </a:p>
        </p:txBody>
      </p:sp>
      <p:sp>
        <p:nvSpPr>
          <p:cNvPr id="21" name="Text 19"/>
          <p:cNvSpPr/>
          <p:nvPr/>
        </p:nvSpPr>
        <p:spPr>
          <a:xfrm>
            <a:off x="5424488" y="4643289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story, in your words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248775" y="4014639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25000" y="4271814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Crisis &amp; safeguarding</a:t>
            </a:r>
            <a:endParaRPr lang="en-US" sz="2025" dirty="0"/>
          </a:p>
        </p:txBody>
      </p:sp>
      <p:sp>
        <p:nvSpPr>
          <p:cNvPr id="24" name="Text 22"/>
          <p:cNvSpPr/>
          <p:nvPr/>
        </p:nvSpPr>
        <p:spPr>
          <a:xfrm>
            <a:off x="9525000" y="4643289"/>
            <a:ext cx="343866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directions · free · offline · one tap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3349288" y="4014639"/>
            <a:ext cx="3890962" cy="1525786"/>
          </a:xfrm>
          <a:prstGeom prst="roundRect">
            <a:avLst>
              <a:gd name="adj" fmla="val 12485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25513" y="4271814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Disease-aware signposting</a:t>
            </a:r>
            <a:endParaRPr lang="en-US" sz="2025" dirty="0"/>
          </a:p>
        </p:txBody>
      </p:sp>
      <p:sp>
        <p:nvSpPr>
          <p:cNvPr id="27" name="Text 25"/>
          <p:cNvSpPr/>
          <p:nvPr/>
        </p:nvSpPr>
        <p:spPr>
          <a:xfrm>
            <a:off x="13625513" y="4643289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real charities and real help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047750" y="5749975"/>
            <a:ext cx="3890962" cy="1205805"/>
          </a:xfrm>
          <a:prstGeom prst="roundRect">
            <a:avLst>
              <a:gd name="adj" fmla="val 1579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23975" y="6007150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Gentle notifications</a:t>
            </a:r>
            <a:endParaRPr lang="en-US" sz="2025" dirty="0"/>
          </a:p>
        </p:txBody>
      </p:sp>
      <p:sp>
        <p:nvSpPr>
          <p:cNvPr id="30" name="Text 28"/>
          <p:cNvSpPr/>
          <p:nvPr/>
        </p:nvSpPr>
        <p:spPr>
          <a:xfrm>
            <a:off x="1323975" y="6378625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quiet hours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148263" y="5749975"/>
            <a:ext cx="3890962" cy="1205805"/>
          </a:xfrm>
          <a:prstGeom prst="roundRect">
            <a:avLst>
              <a:gd name="adj" fmla="val 1579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24488" y="6007150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AI</a:t>
            </a:r>
            <a:endParaRPr lang="en-US" sz="2025" dirty="0"/>
          </a:p>
        </p:txBody>
      </p:sp>
      <p:sp>
        <p:nvSpPr>
          <p:cNvPr id="33" name="Text 31"/>
          <p:cNvSpPr/>
          <p:nvPr/>
        </p:nvSpPr>
        <p:spPr>
          <a:xfrm>
            <a:off x="5424488" y="6378625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by design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248775" y="5749975"/>
            <a:ext cx="3890962" cy="1205805"/>
          </a:xfrm>
          <a:prstGeom prst="roundRect">
            <a:avLst>
              <a:gd name="adj" fmla="val 1579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25000" y="6007150"/>
            <a:ext cx="36723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or delete</a:t>
            </a:r>
            <a:endParaRPr lang="en-US" sz="2025" dirty="0"/>
          </a:p>
        </p:txBody>
      </p:sp>
      <p:sp>
        <p:nvSpPr>
          <p:cNvPr id="36" name="Text 34"/>
          <p:cNvSpPr/>
          <p:nvPr/>
        </p:nvSpPr>
        <p:spPr>
          <a:xfrm>
            <a:off x="9525000" y="6378625"/>
            <a:ext cx="36723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Anytime, in full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13349288" y="5749975"/>
            <a:ext cx="3890962" cy="1205805"/>
          </a:xfrm>
          <a:prstGeom prst="roundRect">
            <a:avLst>
              <a:gd name="adj" fmla="val 15799"/>
            </a:avLst>
          </a:prstGeom>
          <a:gradFill rotWithShape="1">
            <a:gsLst>
              <a:gs pos="0">
                <a:srgbClr val="F4CDA6">
                  <a:alpha val="100000"/>
                </a:srgbClr>
              </a:gs>
              <a:gs pos="5500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3600000" scaled="0"/>
          </a:gradFill>
          <a:ln/>
        </p:spPr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047119" y="6105227"/>
            <a:ext cx="495300" cy="495300"/>
          </a:xfrm>
          <a:prstGeom prst="rect">
            <a:avLst/>
          </a:prstGeom>
        </p:spPr>
      </p:pic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41" name="Text 37"/>
          <p:cNvSpPr/>
          <p:nvPr/>
        </p:nvSpPr>
        <p:spPr>
          <a:xfrm>
            <a:off x="16489635" y="9510713"/>
            <a:ext cx="92206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21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A2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4A7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CONSTITUTION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FAF2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different set of rules.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3159398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047750" y="2530748"/>
            <a:ext cx="194146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413346" y="2549798"/>
            <a:ext cx="307359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score you.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448800" y="3159398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9448800" y="2530748"/>
            <a:ext cx="25271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872960" y="2549798"/>
            <a:ext cx="483438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sits outside the AI model.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047750" y="4007123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047750" y="3378473"/>
            <a:ext cx="25018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469380" y="3397523"/>
            <a:ext cx="605697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words stay yours — never verdicts.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448800" y="4007123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9448800" y="3378473"/>
            <a:ext cx="263426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883676" y="3397523"/>
            <a:ext cx="345528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 by design.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047750" y="4854848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047750" y="4226198"/>
            <a:ext cx="256654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475854" y="4245248"/>
            <a:ext cx="760134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build a profile of the person you care for.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48800" y="4854848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9448800" y="4226198"/>
            <a:ext cx="225549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9845799" y="4245248"/>
            <a:ext cx="415956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every kind of carer.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47750" y="5702573"/>
            <a:ext cx="7791450" cy="9525"/>
          </a:xfrm>
          <a:prstGeom prst="rect">
            <a:avLst/>
          </a:prstGeom>
          <a:solidFill>
            <a:srgbClr val="E4A79E">
              <a:alpha val="2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047750" y="5073923"/>
            <a:ext cx="251743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470943" y="5092973"/>
            <a:ext cx="6379406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F3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streaks, no guilt, no engagement traps.</a:t>
            </a:r>
            <a:endParaRPr lang="en-US" sz="225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4A7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6489338" y="9510713"/>
            <a:ext cx="92236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C9A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21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&amp; ETHICS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is the spine, not a feature.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2279303"/>
            <a:ext cx="3876675" cy="2157413"/>
          </a:xfrm>
          <a:prstGeom prst="roundRect">
            <a:avLst>
              <a:gd name="adj" fmla="val 1059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81125" y="2593628"/>
            <a:ext cx="3530918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you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81125" y="3069878"/>
            <a:ext cx="3306223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weight is too much to carry alone</a:t>
            </a:r>
            <a:endParaRPr lang="en-US" sz="1875" dirty="0"/>
          </a:p>
        </p:txBody>
      </p:sp>
      <p:sp>
        <p:nvSpPr>
          <p:cNvPr id="7" name="Shape 5"/>
          <p:cNvSpPr/>
          <p:nvPr/>
        </p:nvSpPr>
        <p:spPr>
          <a:xfrm>
            <a:off x="5153025" y="2279303"/>
            <a:ext cx="3876675" cy="2157413"/>
          </a:xfrm>
          <a:prstGeom prst="roundRect">
            <a:avLst>
              <a:gd name="adj" fmla="val 1059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2593628"/>
            <a:ext cx="3306223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the person you care for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5486400" y="3431828"/>
            <a:ext cx="3306223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they are the one in danger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9258300" y="2279303"/>
            <a:ext cx="3876675" cy="2157413"/>
          </a:xfrm>
          <a:prstGeom prst="roundRect">
            <a:avLst>
              <a:gd name="adj" fmla="val 1059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91675" y="2593628"/>
            <a:ext cx="3530918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Harm from others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591675" y="3069878"/>
            <a:ext cx="3306223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someone in your life is the danger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13363575" y="2279303"/>
            <a:ext cx="3876675" cy="2157413"/>
          </a:xfrm>
          <a:prstGeom prst="roundRect">
            <a:avLst>
              <a:gd name="adj" fmla="val 1059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696950" y="2593628"/>
            <a:ext cx="3530918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Safeguarding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3696950" y="3069878"/>
            <a:ext cx="3306223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Protecting a child or vulnerable adult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1047750" y="4741515"/>
            <a:ext cx="965374" cy="490538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4855815"/>
            <a:ext cx="54627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146474" y="4741515"/>
            <a:ext cx="1151855" cy="490538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2394124" y="4855815"/>
            <a:ext cx="73275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3431679" y="4741515"/>
            <a:ext cx="1308720" cy="490538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3679329" y="4855815"/>
            <a:ext cx="88962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tap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873749" y="4741515"/>
            <a:ext cx="2587451" cy="490538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121399" y="4855815"/>
            <a:ext cx="21697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before sign-in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594550" y="4741515"/>
            <a:ext cx="2668935" cy="490538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7842200" y="4855815"/>
            <a:ext cx="225370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of the AI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047750" y="5574953"/>
            <a:ext cx="7943850" cy="19050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27" name="Text 25"/>
          <p:cNvSpPr/>
          <p:nvPr/>
        </p:nvSpPr>
        <p:spPr>
          <a:xfrm>
            <a:off x="1047750" y="5784503"/>
            <a:ext cx="818216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Region-aware crisis resources.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 + US now; a safe global fallback everywhere else.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296400" y="5574953"/>
            <a:ext cx="7943850" cy="19050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29" name="Text 27"/>
          <p:cNvSpPr/>
          <p:nvPr/>
        </p:nvSpPr>
        <p:spPr>
          <a:xfrm>
            <a:off x="9296400" y="5784503"/>
            <a:ext cx="818216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Governed.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 GDPR, consent-first, clinical-safety + DPO governance.</a:t>
            </a:r>
            <a:endParaRPr lang="en-US" sz="195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16538079" y="9510713"/>
            <a:ext cx="87362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21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&amp; MOAT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Private by architecture. Safe by design.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2317403"/>
            <a:ext cx="5206975" cy="2833688"/>
          </a:xfrm>
          <a:prstGeom prst="roundRect">
            <a:avLst>
              <a:gd name="adj" fmla="val 873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76375" y="2707928"/>
            <a:ext cx="4784698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On-device AI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476375" y="3274665"/>
            <a:ext cx="4480217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the phone. Works offline. Your words don’t leave the device by default.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540475" y="2317403"/>
            <a:ext cx="5207050" cy="2833688"/>
          </a:xfrm>
          <a:prstGeom prst="roundRect">
            <a:avLst>
              <a:gd name="adj" fmla="val 873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69100" y="2707928"/>
            <a:ext cx="478478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deterministic safety spine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969100" y="3274665"/>
            <a:ext cx="4480294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crisis gate and classifiers run outside the warm model — safety can’t be bypassed. Independently red-teamed; all tests green.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033275" y="2317403"/>
            <a:ext cx="5206975" cy="2833688"/>
          </a:xfrm>
          <a:prstGeom prst="roundRect">
            <a:avLst>
              <a:gd name="adj" fmla="val 873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61900" y="2707928"/>
            <a:ext cx="4784698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Portable backend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461900" y="3274665"/>
            <a:ext cx="4480217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All-API architecture with end-to-end encryption — no lock-in, no data lake.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47750" y="5570190"/>
            <a:ext cx="16192500" cy="1028700"/>
          </a:xfrm>
          <a:prstGeom prst="roundRect">
            <a:avLst>
              <a:gd name="adj" fmla="val 22222"/>
            </a:avLst>
          </a:prstGeom>
          <a:gradFill rotWithShape="1">
            <a:gsLst>
              <a:gs pos="0">
                <a:srgbClr val="F4CDA6">
                  <a:alpha val="40000"/>
                </a:srgbClr>
              </a:gs>
              <a:gs pos="100000">
                <a:srgbClr val="D5A3B2">
                  <a:alpha val="35000"/>
                </a:srgbClr>
              </a:gs>
            </a:gsLst>
            <a:lin ang="3600000" scaled="0"/>
          </a:gradFill>
          <a:ln w="9525">
            <a:solidFill>
              <a:srgbClr val="EAD9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76375" y="5970240"/>
            <a:ext cx="153200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MOAT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35809" y="5884515"/>
            <a:ext cx="12090216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Carer-specific design · a safety architecture competitors don’t have · privacy by default</a:t>
            </a:r>
            <a:endParaRPr lang="en-US" sz="2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6589350" y="9510713"/>
            <a:ext cx="82235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21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SCIENCE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Grounded in evidence, built to a constitution.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30748"/>
            <a:ext cx="7972425" cy="1919288"/>
          </a:xfrm>
          <a:prstGeom prst="roundRect">
            <a:avLst>
              <a:gd name="adj" fmla="val 11911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57325" y="2902223"/>
            <a:ext cx="786860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+ lived experience</a:t>
            </a:r>
            <a:endParaRPr lang="en-US" sz="2175" dirty="0"/>
          </a:p>
        </p:txBody>
      </p:sp>
      <p:sp>
        <p:nvSpPr>
          <p:cNvPr id="6" name="Text 4"/>
          <p:cNvSpPr/>
          <p:nvPr/>
        </p:nvSpPr>
        <p:spPr>
          <a:xfrm>
            <a:off x="1457325" y="3335610"/>
            <a:ext cx="7367873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carer-wellbeing research and PPIE — carers shaping the product throughout.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267825" y="2530748"/>
            <a:ext cx="7972425" cy="1919288"/>
          </a:xfrm>
          <a:prstGeom prst="roundRect">
            <a:avLst>
              <a:gd name="adj" fmla="val 11911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77400" y="2902223"/>
            <a:ext cx="786860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written, enforced constitution</a:t>
            </a:r>
            <a:endParaRPr lang="en-US" sz="2175" dirty="0"/>
          </a:p>
        </p:txBody>
      </p:sp>
      <p:sp>
        <p:nvSpPr>
          <p:cNvPr id="9" name="Text 7"/>
          <p:cNvSpPr/>
          <p:nvPr/>
        </p:nvSpPr>
        <p:spPr>
          <a:xfrm>
            <a:off x="9677400" y="3335610"/>
            <a:ext cx="7367873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 and consent-first — rules the product cannot break.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047750" y="4697685"/>
            <a:ext cx="7972425" cy="1919288"/>
          </a:xfrm>
          <a:prstGeom prst="roundRect">
            <a:avLst>
              <a:gd name="adj" fmla="val 11911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57325" y="5069160"/>
            <a:ext cx="786860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Signposting, not advice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1457325" y="5502548"/>
            <a:ext cx="7367873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 points to real help — it never diagnoses, treats or prescribes.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267825" y="4697685"/>
            <a:ext cx="7972425" cy="1919288"/>
          </a:xfrm>
          <a:prstGeom prst="roundRect">
            <a:avLst>
              <a:gd name="adj" fmla="val 11911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77400" y="5069160"/>
            <a:ext cx="786860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Independently tested</a:t>
            </a:r>
            <a:endParaRPr lang="en-US" sz="2175" dirty="0"/>
          </a:p>
        </p:txBody>
      </p:sp>
      <p:sp>
        <p:nvSpPr>
          <p:cNvPr id="15" name="Text 13"/>
          <p:cNvSpPr/>
          <p:nvPr/>
        </p:nvSpPr>
        <p:spPr>
          <a:xfrm>
            <a:off x="9677400" y="5502548"/>
            <a:ext cx="786860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Red-teamed safety and grounding, verified by outside eyes.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238125" y="7036073"/>
            <a:ext cx="17811750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40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privacy-preserving, consent-based foundation for carer-wellbeing research at scale.</a:t>
            </a:r>
            <a:endParaRPr lang="en-US" sz="24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6542916" y="9510713"/>
            <a:ext cx="86878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· 21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SIZE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large market meeting a vast need.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133475" y="2553146"/>
            <a:ext cx="5543550" cy="5543550"/>
          </a:xfrm>
          <a:prstGeom prst="ellipse">
            <a:avLst/>
          </a:prstGeom>
          <a:solidFill>
            <a:srgbClr val="F4CDA6">
              <a:alpha val="45000"/>
            </a:srgbClr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29546" y="3200846"/>
            <a:ext cx="627534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085975" y="3810446"/>
            <a:ext cx="3638550" cy="3638550"/>
          </a:xfrm>
          <a:prstGeom prst="ellipse">
            <a:avLst/>
          </a:prstGeom>
          <a:solidFill>
            <a:srgbClr val="E4A79E">
              <a:alpha val="50000"/>
            </a:srgbClr>
          </a:solidFill>
          <a:ln w="9525">
            <a:solidFill>
              <a:srgbClr val="E0BF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4663" y="4477196"/>
            <a:ext cx="657299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8F4E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000375" y="4972496"/>
            <a:ext cx="1809750" cy="18097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9" name="Text 7"/>
          <p:cNvSpPr/>
          <p:nvPr/>
        </p:nvSpPr>
        <p:spPr>
          <a:xfrm>
            <a:off x="2962275" y="4972496"/>
            <a:ext cx="1885950" cy="1847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spc="225" kern="0" dirty="0">
                <a:solidFill>
                  <a:srgbClr val="FAF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524750" y="3900934"/>
            <a:ext cx="9715500" cy="9525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11" name="Text 9"/>
          <p:cNvSpPr/>
          <p:nvPr/>
        </p:nvSpPr>
        <p:spPr>
          <a:xfrm>
            <a:off x="7524750" y="2241203"/>
            <a:ext cx="106870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· DIGITAL MENTAL HEALTH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24750" y="2598390"/>
            <a:ext cx="10687050" cy="671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9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~$33bn → ~$180bn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7524750" y="3308003"/>
            <a:ext cx="10687050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→ 2035, ~18.5% CAGR · mental-health apps ~$9bn → ~$23bn by 2030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7524750" y="5855940"/>
            <a:ext cx="9715500" cy="9525"/>
          </a:xfrm>
          <a:prstGeom prst="rect">
            <a:avLst/>
          </a:prstGeom>
          <a:solidFill>
            <a:srgbClr val="EAD9C8"/>
          </a:solidFill>
          <a:ln/>
        </p:spPr>
      </p:sp>
      <p:sp>
        <p:nvSpPr>
          <p:cNvPr id="15" name="Text 13"/>
          <p:cNvSpPr/>
          <p:nvPr/>
        </p:nvSpPr>
        <p:spPr>
          <a:xfrm>
            <a:off x="7524750" y="4196209"/>
            <a:ext cx="106870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· LAUNCH MARKETS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524750" y="4553396"/>
            <a:ext cx="10687050" cy="671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9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~69M adult carers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7524750" y="5263009"/>
            <a:ext cx="10687050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 5.8M + US 63M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7524750" y="6151215"/>
            <a:ext cx="106870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· THE WEDGE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524750" y="6508403"/>
            <a:ext cx="1000696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early, reachable wedge of UK adult carers — via early access and carer-organisation &amp; employer partnerships.</a:t>
            </a:r>
            <a:endParaRPr lang="en-US" sz="2025" dirty="0"/>
          </a:p>
        </p:txBody>
      </p:sp>
      <p:sp>
        <p:nvSpPr>
          <p:cNvPr id="20" name="Text 18"/>
          <p:cNvSpPr/>
          <p:nvPr/>
        </p:nvSpPr>
        <p:spPr>
          <a:xfrm>
            <a:off x="7524750" y="7565678"/>
            <a:ext cx="10006965" cy="881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Market Research Future, Digital Mental Health Market (2025) · MarketsandMarkets, Mental Health Apps Market (2025) · Carers UK (2025) · AARP &amp; NAC (2025)</a:t>
            </a:r>
            <a:endParaRPr lang="en-US" sz="18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16541130" y="9510713"/>
            <a:ext cx="87057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· 21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UK first, then the world, safely.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30748"/>
            <a:ext cx="4851350" cy="1895475"/>
          </a:xfrm>
          <a:prstGeom prst="roundRect">
            <a:avLst>
              <a:gd name="adj" fmla="val 12060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38275" y="2883173"/>
            <a:ext cx="447733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438275" y="3392760"/>
            <a:ext cx="447733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UK</a:t>
            </a:r>
            <a:endParaRPr lang="en-US" sz="2175" dirty="0"/>
          </a:p>
        </p:txBody>
      </p:sp>
      <p:sp>
        <p:nvSpPr>
          <p:cNvPr id="7" name="Text 5"/>
          <p:cNvSpPr/>
          <p:nvPr/>
        </p:nvSpPr>
        <p:spPr>
          <a:xfrm>
            <a:off x="1438275" y="3788048"/>
            <a:ext cx="447733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Adults, 18+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6146750" y="3283223"/>
            <a:ext cx="40005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C9A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6718250" y="2530748"/>
            <a:ext cx="4851425" cy="1895475"/>
          </a:xfrm>
          <a:prstGeom prst="roundRect">
            <a:avLst>
              <a:gd name="adj" fmla="val 12060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08775" y="2883173"/>
            <a:ext cx="4477412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7108775" y="3392760"/>
            <a:ext cx="4477412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States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7108775" y="3788048"/>
            <a:ext cx="447741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Crisis resources localised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11817325" y="3283223"/>
            <a:ext cx="40005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C9A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2388825" y="2530748"/>
            <a:ext cx="4851425" cy="1895475"/>
          </a:xfrm>
          <a:prstGeom prst="roundRect">
            <a:avLst>
              <a:gd name="adj" fmla="val 12060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779350" y="2883173"/>
            <a:ext cx="4477412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779350" y="3392760"/>
            <a:ext cx="4477412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countries</a:t>
            </a:r>
            <a:endParaRPr lang="en-US" sz="2175" dirty="0"/>
          </a:p>
        </p:txBody>
      </p:sp>
      <p:sp>
        <p:nvSpPr>
          <p:cNvPr id="17" name="Text 15"/>
          <p:cNvSpPr/>
          <p:nvPr/>
        </p:nvSpPr>
        <p:spPr>
          <a:xfrm>
            <a:off x="12779350" y="3788048"/>
            <a:ext cx="447741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Localisation gates each market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1047750" y="5007248"/>
            <a:ext cx="16209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2768947" y="4883423"/>
            <a:ext cx="4967734" cy="504825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016597" y="4997723"/>
            <a:ext cx="462146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 charities — Carers UK, Carers Trust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7984331" y="4883423"/>
            <a:ext cx="2943820" cy="504825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8231981" y="4997723"/>
            <a:ext cx="253683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NHS &amp; local authorities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11175802" y="4883423"/>
            <a:ext cx="3923035" cy="504825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11423452" y="4997723"/>
            <a:ext cx="35454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carer-benefit schemes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15346487" y="4883423"/>
            <a:ext cx="1633612" cy="504825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15594137" y="4997723"/>
            <a:ext cx="121451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stores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1047750" y="5635898"/>
            <a:ext cx="2229073" cy="504825"/>
          </a:xfrm>
          <a:prstGeom prst="roundRect">
            <a:avLst>
              <a:gd name="adj" fmla="val 50000"/>
            </a:avLst>
          </a:prstGeom>
          <a:solidFill>
            <a:srgbClr val="A46349">
              <a:alpha val="1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1295400" y="5750198"/>
            <a:ext cx="180997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 &amp; social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1047750" y="6559823"/>
            <a:ext cx="1781175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 removes all friction.</a:t>
            </a:r>
            <a:endParaRPr lang="en-US" sz="255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16534656" y="9510713"/>
            <a:ext cx="87704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· 21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 for carers. Sustainable by design.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30748"/>
            <a:ext cx="7943850" cy="2613050"/>
          </a:xfrm>
          <a:prstGeom prst="roundRect">
            <a:avLst>
              <a:gd name="adj" fmla="val 1020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33525" y="2978423"/>
            <a:ext cx="766953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FREE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33525" y="3411810"/>
            <a:ext cx="7181469" cy="8943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is free — for accessibility, and for trust. Crisis support is always free, for everyone.</a:t>
            </a:r>
            <a:endParaRPr lang="en-US" sz="2175" dirty="0"/>
          </a:p>
        </p:txBody>
      </p:sp>
      <p:sp>
        <p:nvSpPr>
          <p:cNvPr id="7" name="Shape 5"/>
          <p:cNvSpPr/>
          <p:nvPr/>
        </p:nvSpPr>
        <p:spPr>
          <a:xfrm>
            <a:off x="9296400" y="2530748"/>
            <a:ext cx="7943850" cy="2613050"/>
          </a:xfrm>
          <a:prstGeom prst="roundRect">
            <a:avLst>
              <a:gd name="adj" fmla="val 10206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2175" y="2978423"/>
            <a:ext cx="766953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SUSTAINED BY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782175" y="3411810"/>
            <a:ext cx="7181469" cy="132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optional supporter tier and donations, plus partnerships with the NHS, councils, employers and charities.</a:t>
            </a:r>
            <a:endParaRPr lang="en-US" sz="2175" dirty="0"/>
          </a:p>
        </p:txBody>
      </p:sp>
      <p:sp>
        <p:nvSpPr>
          <p:cNvPr id="10" name="Shape 8"/>
          <p:cNvSpPr/>
          <p:nvPr/>
        </p:nvSpPr>
        <p:spPr>
          <a:xfrm>
            <a:off x="1047750" y="5562898"/>
            <a:ext cx="16192500" cy="976312"/>
          </a:xfrm>
          <a:prstGeom prst="roundRect">
            <a:avLst>
              <a:gd name="adj" fmla="val 23415"/>
            </a:avLst>
          </a:prstGeom>
          <a:gradFill rotWithShape="1">
            <a:gsLst>
              <a:gs pos="0">
                <a:srgbClr val="F4CDA6">
                  <a:alpha val="40000"/>
                </a:srgbClr>
              </a:gs>
              <a:gs pos="100000">
                <a:srgbClr val="D5A3B2">
                  <a:alpha val="35000"/>
                </a:srgbClr>
              </a:gs>
            </a:gsLst>
            <a:lin ang="3600000" scaled="0"/>
          </a:gra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3488" y="5877223"/>
            <a:ext cx="15821025" cy="3857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by charging carers. Never by selling data.</a:t>
            </a:r>
            <a:endParaRPr lang="en-US" sz="2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6546711" y="9510713"/>
            <a:ext cx="86498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· 21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45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3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CARER sits.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2241203"/>
            <a:ext cx="7277100" cy="5753100"/>
          </a:xfrm>
          <a:prstGeom prst="roundRect">
            <a:avLst>
              <a:gd name="adj" fmla="val 3974"/>
            </a:avLst>
          </a:prstGeom>
          <a:solidFill>
            <a:srgbClr val="E0CDBA"/>
          </a:solidFill>
          <a:ln w="19050">
            <a:solidFill>
              <a:srgbClr val="E0CD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6800" y="2260253"/>
            <a:ext cx="3609975" cy="2847975"/>
          </a:xfrm>
          <a:prstGeom prst="rect">
            <a:avLst/>
          </a:prstGeom>
          <a:solidFill>
            <a:srgbClr val="FBF5EC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526953"/>
            <a:ext cx="330041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 · Generic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960340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Headspace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371600" y="3341340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Calm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4695825" y="2260253"/>
            <a:ext cx="3609975" cy="2847975"/>
          </a:xfrm>
          <a:prstGeom prst="rect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5500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3600000" scaled="0"/>
          </a:gradFill>
          <a:ln/>
        </p:spPr>
      </p:sp>
      <p:sp>
        <p:nvSpPr>
          <p:cNvPr id="10" name="Text 8"/>
          <p:cNvSpPr/>
          <p:nvPr/>
        </p:nvSpPr>
        <p:spPr>
          <a:xfrm>
            <a:off x="5000625" y="2526953"/>
            <a:ext cx="3090386" cy="600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E4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 · Carer-specific</a:t>
            </a:r>
            <a:endParaRPr lang="en-US" sz="18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00625" y="3284190"/>
            <a:ext cx="400050" cy="40005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514975" y="3241328"/>
            <a:ext cx="1019324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5000625" y="3841403"/>
            <a:ext cx="3090386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Alone here — private, on-device, safety-first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066800" y="5127278"/>
            <a:ext cx="3609975" cy="2847975"/>
          </a:xfrm>
          <a:prstGeom prst="rect">
            <a:avLst/>
          </a:prstGeom>
          <a:solidFill>
            <a:srgbClr val="FBF5EC"/>
          </a:solidFill>
          <a:ln/>
        </p:spPr>
      </p:sp>
      <p:sp>
        <p:nvSpPr>
          <p:cNvPr id="15" name="Text 12"/>
          <p:cNvSpPr/>
          <p:nvPr/>
        </p:nvSpPr>
        <p:spPr>
          <a:xfrm>
            <a:off x="1371600" y="5393978"/>
            <a:ext cx="330041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· Generic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371600" y="5827365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Wysa</a:t>
            </a:r>
            <a:endParaRPr lang="en-US" sz="1950" dirty="0"/>
          </a:p>
        </p:txBody>
      </p:sp>
      <p:sp>
        <p:nvSpPr>
          <p:cNvPr id="17" name="Text 14"/>
          <p:cNvSpPr/>
          <p:nvPr/>
        </p:nvSpPr>
        <p:spPr>
          <a:xfrm>
            <a:off x="1371600" y="6208365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Woebot</a:t>
            </a:r>
            <a:endParaRPr lang="en-US" sz="1950" dirty="0"/>
          </a:p>
        </p:txBody>
      </p:sp>
      <p:sp>
        <p:nvSpPr>
          <p:cNvPr id="18" name="Shape 15"/>
          <p:cNvSpPr/>
          <p:nvPr/>
        </p:nvSpPr>
        <p:spPr>
          <a:xfrm>
            <a:off x="4695825" y="5127278"/>
            <a:ext cx="3609975" cy="2847975"/>
          </a:xfrm>
          <a:prstGeom prst="rect">
            <a:avLst/>
          </a:prstGeom>
          <a:solidFill>
            <a:srgbClr val="FBF5EC"/>
          </a:solidFill>
          <a:ln/>
        </p:spPr>
      </p:sp>
      <p:sp>
        <p:nvSpPr>
          <p:cNvPr id="19" name="Text 16"/>
          <p:cNvSpPr/>
          <p:nvPr/>
        </p:nvSpPr>
        <p:spPr>
          <a:xfrm>
            <a:off x="5000625" y="5393978"/>
            <a:ext cx="330041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 · Carer-specific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000625" y="5827365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Mobilise</a:t>
            </a:r>
            <a:endParaRPr lang="en-US" sz="1950" dirty="0"/>
          </a:p>
        </p:txBody>
      </p:sp>
      <p:sp>
        <p:nvSpPr>
          <p:cNvPr id="21" name="Text 18"/>
          <p:cNvSpPr/>
          <p:nvPr/>
        </p:nvSpPr>
        <p:spPr>
          <a:xfrm>
            <a:off x="5000625" y="6208365"/>
            <a:ext cx="330041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Carers UK tools</a:t>
            </a:r>
            <a:endParaRPr lang="en-US" sz="1950" dirty="0"/>
          </a:p>
        </p:txBody>
      </p:sp>
      <p:sp>
        <p:nvSpPr>
          <p:cNvPr id="22" name="Text 19"/>
          <p:cNvSpPr/>
          <p:nvPr/>
        </p:nvSpPr>
        <p:spPr>
          <a:xfrm>
            <a:off x="8991600" y="3658046"/>
            <a:ext cx="907351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WEDGE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8991600" y="4281934"/>
            <a:ext cx="114300" cy="11430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24" name="Text 21"/>
          <p:cNvSpPr/>
          <p:nvPr/>
        </p:nvSpPr>
        <p:spPr>
          <a:xfrm>
            <a:off x="9258300" y="4148584"/>
            <a:ext cx="208174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Carer-specific</a:t>
            </a:r>
            <a:endParaRPr lang="en-US" sz="2175" dirty="0"/>
          </a:p>
        </p:txBody>
      </p:sp>
      <p:sp>
        <p:nvSpPr>
          <p:cNvPr id="25" name="Shape 22"/>
          <p:cNvSpPr/>
          <p:nvPr/>
        </p:nvSpPr>
        <p:spPr>
          <a:xfrm>
            <a:off x="8991600" y="4805809"/>
            <a:ext cx="114300" cy="11430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26" name="Text 23"/>
          <p:cNvSpPr/>
          <p:nvPr/>
        </p:nvSpPr>
        <p:spPr>
          <a:xfrm>
            <a:off x="9258300" y="4672459"/>
            <a:ext cx="175170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Non-clinical</a:t>
            </a:r>
            <a:endParaRPr lang="en-US" sz="2175" dirty="0"/>
          </a:p>
        </p:txBody>
      </p:sp>
      <p:sp>
        <p:nvSpPr>
          <p:cNvPr id="27" name="Shape 24"/>
          <p:cNvSpPr/>
          <p:nvPr/>
        </p:nvSpPr>
        <p:spPr>
          <a:xfrm>
            <a:off x="8991600" y="5329684"/>
            <a:ext cx="114300" cy="11430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28" name="Text 25"/>
          <p:cNvSpPr/>
          <p:nvPr/>
        </p:nvSpPr>
        <p:spPr>
          <a:xfrm>
            <a:off x="9258300" y="5196334"/>
            <a:ext cx="284816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&amp; on-device</a:t>
            </a:r>
            <a:endParaRPr lang="en-US" sz="2175" dirty="0"/>
          </a:p>
        </p:txBody>
      </p:sp>
      <p:sp>
        <p:nvSpPr>
          <p:cNvPr id="29" name="Shape 26"/>
          <p:cNvSpPr/>
          <p:nvPr/>
        </p:nvSpPr>
        <p:spPr>
          <a:xfrm>
            <a:off x="8991600" y="5853559"/>
            <a:ext cx="114300" cy="11430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30" name="Text 27"/>
          <p:cNvSpPr/>
          <p:nvPr/>
        </p:nvSpPr>
        <p:spPr>
          <a:xfrm>
            <a:off x="9258300" y="5720209"/>
            <a:ext cx="164455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Safety-first</a:t>
            </a:r>
            <a:endParaRPr lang="en-US" sz="2175" dirty="0"/>
          </a:p>
        </p:txBody>
      </p:sp>
      <p:sp>
        <p:nvSpPr>
          <p:cNvPr id="31" name="Shape 28"/>
          <p:cNvSpPr/>
          <p:nvPr/>
        </p:nvSpPr>
        <p:spPr>
          <a:xfrm>
            <a:off x="8991600" y="6377434"/>
            <a:ext cx="114300" cy="11430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32" name="Text 29"/>
          <p:cNvSpPr/>
          <p:nvPr/>
        </p:nvSpPr>
        <p:spPr>
          <a:xfrm>
            <a:off x="9258300" y="6244084"/>
            <a:ext cx="135053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Anti-guilt</a:t>
            </a:r>
            <a:endParaRPr lang="en-US" sz="2175" dirty="0"/>
          </a:p>
        </p:txBody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35" name="Text 31"/>
          <p:cNvSpPr/>
          <p:nvPr/>
        </p:nvSpPr>
        <p:spPr>
          <a:xfrm>
            <a:off x="16540535" y="9510713"/>
            <a:ext cx="87116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21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Built, safe, and ready.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492648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62075" y="2830785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6" name="Text 4"/>
          <p:cNvSpPr/>
          <p:nvPr/>
        </p:nvSpPr>
        <p:spPr>
          <a:xfrm>
            <a:off x="1724025" y="2749823"/>
            <a:ext cx="374898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feature-complete</a:t>
            </a:r>
            <a:endParaRPr lang="en-US" sz="2175" dirty="0"/>
          </a:p>
        </p:txBody>
      </p:sp>
      <p:sp>
        <p:nvSpPr>
          <p:cNvPr id="7" name="Shape 5"/>
          <p:cNvSpPr/>
          <p:nvPr/>
        </p:nvSpPr>
        <p:spPr>
          <a:xfrm>
            <a:off x="9334500" y="2492648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48825" y="2830785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9" name="Text 7"/>
          <p:cNvSpPr/>
          <p:nvPr/>
        </p:nvSpPr>
        <p:spPr>
          <a:xfrm>
            <a:off x="10010775" y="2749823"/>
            <a:ext cx="725763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gates green — crisis red-team + grounding</a:t>
            </a:r>
            <a:endParaRPr lang="en-US" sz="2175" dirty="0"/>
          </a:p>
        </p:txBody>
      </p:sp>
      <p:sp>
        <p:nvSpPr>
          <p:cNvPr id="10" name="Shape 8"/>
          <p:cNvSpPr/>
          <p:nvPr/>
        </p:nvSpPr>
        <p:spPr>
          <a:xfrm>
            <a:off x="1047750" y="3530873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62075" y="3869010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12" name="Text 10"/>
          <p:cNvSpPr/>
          <p:nvPr/>
        </p:nvSpPr>
        <p:spPr>
          <a:xfrm>
            <a:off x="1724025" y="3788048"/>
            <a:ext cx="468016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Region-aware crisis support live</a:t>
            </a:r>
            <a:endParaRPr lang="en-US" sz="2175" dirty="0"/>
          </a:p>
        </p:txBody>
      </p:sp>
      <p:sp>
        <p:nvSpPr>
          <p:cNvPr id="13" name="Shape 11"/>
          <p:cNvSpPr/>
          <p:nvPr/>
        </p:nvSpPr>
        <p:spPr>
          <a:xfrm>
            <a:off x="9334500" y="3530873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48825" y="3869010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15" name="Text 13"/>
          <p:cNvSpPr/>
          <p:nvPr/>
        </p:nvSpPr>
        <p:spPr>
          <a:xfrm>
            <a:off x="10010775" y="3788048"/>
            <a:ext cx="358887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website ready</a:t>
            </a:r>
            <a:endParaRPr lang="en-US" sz="2175" dirty="0"/>
          </a:p>
        </p:txBody>
      </p:sp>
      <p:sp>
        <p:nvSpPr>
          <p:cNvPr id="16" name="Shape 14"/>
          <p:cNvSpPr/>
          <p:nvPr/>
        </p:nvSpPr>
        <p:spPr>
          <a:xfrm>
            <a:off x="1047750" y="4569098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62075" y="4907235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18" name="Text 16"/>
          <p:cNvSpPr/>
          <p:nvPr/>
        </p:nvSpPr>
        <p:spPr>
          <a:xfrm>
            <a:off x="1724025" y="4826273"/>
            <a:ext cx="63300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App Store + Google Play asset kit ready</a:t>
            </a:r>
            <a:endParaRPr lang="en-US" sz="2175" dirty="0"/>
          </a:p>
        </p:txBody>
      </p:sp>
      <p:sp>
        <p:nvSpPr>
          <p:cNvPr id="19" name="Shape 17"/>
          <p:cNvSpPr/>
          <p:nvPr/>
        </p:nvSpPr>
        <p:spPr>
          <a:xfrm>
            <a:off x="9334500" y="4569098"/>
            <a:ext cx="7905750" cy="847725"/>
          </a:xfrm>
          <a:prstGeom prst="roundRect">
            <a:avLst>
              <a:gd name="adj" fmla="val 2247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48825" y="4907235"/>
            <a:ext cx="171450" cy="171450"/>
          </a:xfrm>
          <a:prstGeom prst="ellipse">
            <a:avLst/>
          </a:prstGeom>
          <a:solidFill>
            <a:srgbClr val="A46349"/>
          </a:solidFill>
          <a:ln/>
        </p:spPr>
      </p:sp>
      <p:sp>
        <p:nvSpPr>
          <p:cNvPr id="21" name="Text 19"/>
          <p:cNvSpPr/>
          <p:nvPr/>
        </p:nvSpPr>
        <p:spPr>
          <a:xfrm>
            <a:off x="10010775" y="4826273"/>
            <a:ext cx="218603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early access</a:t>
            </a:r>
            <a:endParaRPr lang="en-US" sz="2175" dirty="0"/>
          </a:p>
        </p:txBody>
      </p:sp>
      <p:sp>
        <p:nvSpPr>
          <p:cNvPr id="22" name="Text 20"/>
          <p:cNvSpPr/>
          <p:nvPr/>
        </p:nvSpPr>
        <p:spPr>
          <a:xfrm>
            <a:off x="238125" y="5874023"/>
            <a:ext cx="17811750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Pre-launch — a real, reviewable product. No vanity metrics.</a:t>
            </a:r>
            <a:endParaRPr lang="en-US" sz="2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16552962" y="9510713"/>
            <a:ext cx="858738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· 21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What’s next.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530748"/>
            <a:ext cx="5194250" cy="3073598"/>
          </a:xfrm>
          <a:prstGeom prst="roundRect">
            <a:avLst>
              <a:gd name="adj" fmla="val 8677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95425" y="2940323"/>
            <a:ext cx="472879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95425" y="3411810"/>
            <a:ext cx="4728790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UK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1495425" y="3943276"/>
            <a:ext cx="4728790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the on-device model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1495425" y="4474741"/>
            <a:ext cx="4427867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Solicitor / ICO + clinical-safety sign-off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6546800" y="2530748"/>
            <a:ext cx="5194325" cy="3073598"/>
          </a:xfrm>
          <a:prstGeom prst="roundRect">
            <a:avLst>
              <a:gd name="adj" fmla="val 8677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94475" y="2940323"/>
            <a:ext cx="472887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94475" y="3411810"/>
            <a:ext cx="4728872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market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6994475" y="3943276"/>
            <a:ext cx="4728872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Carer-org &amp; employer partnerships</a:t>
            </a:r>
            <a:endParaRPr lang="en-US" sz="2025" dirty="0"/>
          </a:p>
        </p:txBody>
      </p:sp>
      <p:sp>
        <p:nvSpPr>
          <p:cNvPr id="13" name="Text 11"/>
          <p:cNvSpPr/>
          <p:nvPr/>
        </p:nvSpPr>
        <p:spPr>
          <a:xfrm>
            <a:off x="6994475" y="4474741"/>
            <a:ext cx="4728872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validation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12045925" y="2530748"/>
            <a:ext cx="5194325" cy="3073598"/>
          </a:xfrm>
          <a:prstGeom prst="roundRect">
            <a:avLst>
              <a:gd name="adj" fmla="val 8677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93600" y="2940323"/>
            <a:ext cx="472887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493600" y="3411810"/>
            <a:ext cx="4728872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countries</a:t>
            </a:r>
            <a:endParaRPr lang="en-US" sz="2025" dirty="0"/>
          </a:p>
        </p:txBody>
      </p:sp>
      <p:sp>
        <p:nvSpPr>
          <p:cNvPr id="17" name="Text 15"/>
          <p:cNvSpPr/>
          <p:nvPr/>
        </p:nvSpPr>
        <p:spPr>
          <a:xfrm>
            <a:off x="12493600" y="3943276"/>
            <a:ext cx="4728872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Deeper personalisation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12493600" y="4474741"/>
            <a:ext cx="4427944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platform for carer-wellbeing research</a:t>
            </a:r>
            <a:endParaRPr lang="en-US" sz="2025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6540907" y="9510713"/>
            <a:ext cx="87079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· 21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GOVERNANCE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7788"/>
            <a:ext cx="17811750" cy="687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Who’s behind CARER.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492648"/>
            <a:ext cx="16192500" cy="1604963"/>
          </a:xfrm>
          <a:prstGeom prst="roundRect">
            <a:avLst>
              <a:gd name="adj" fmla="val 15430"/>
            </a:avLst>
          </a:prstGeom>
          <a:gradFill rotWithShape="1">
            <a:gsLst>
              <a:gs pos="0">
                <a:srgbClr val="F4CDA6">
                  <a:alpha val="40000"/>
                </a:srgbClr>
              </a:gs>
              <a:gs pos="100000">
                <a:srgbClr val="D5A3B2">
                  <a:alpha val="35000"/>
                </a:srgbClr>
              </a:gs>
            </a:gsLst>
            <a:lin ang="3600000" scaled="0"/>
          </a:gradFill>
          <a:ln w="9525">
            <a:solidFill>
              <a:srgbClr val="EAD9C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14475" y="3009379"/>
            <a:ext cx="571500" cy="571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371725" y="2883173"/>
            <a:ext cx="556322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Wellnetix Ltd · United Kingdom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2371725" y="3397523"/>
            <a:ext cx="55632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small, mission-driven team.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1047750" y="4402410"/>
            <a:ext cx="5219700" cy="1809750"/>
          </a:xfrm>
          <a:prstGeom prst="roundRect">
            <a:avLst>
              <a:gd name="adj" fmla="val 1263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438275" y="4754835"/>
            <a:ext cx="488251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Clinical-safety lead</a:t>
            </a:r>
            <a:endParaRPr lang="en-US" sz="2175" dirty="0"/>
          </a:p>
        </p:txBody>
      </p:sp>
      <p:sp>
        <p:nvSpPr>
          <p:cNvPr id="10" name="Text 7"/>
          <p:cNvSpPr/>
          <p:nvPr/>
        </p:nvSpPr>
        <p:spPr>
          <a:xfrm>
            <a:off x="1438275" y="5169173"/>
            <a:ext cx="4571810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accountability for safety decisions</a:t>
            </a:r>
            <a:endParaRPr lang="en-US" sz="1875" dirty="0"/>
          </a:p>
        </p:txBody>
      </p:sp>
      <p:sp>
        <p:nvSpPr>
          <p:cNvPr id="11" name="Shape 8"/>
          <p:cNvSpPr/>
          <p:nvPr/>
        </p:nvSpPr>
        <p:spPr>
          <a:xfrm>
            <a:off x="6534150" y="4402410"/>
            <a:ext cx="5219700" cy="1809750"/>
          </a:xfrm>
          <a:prstGeom prst="roundRect">
            <a:avLst>
              <a:gd name="adj" fmla="val 1263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24675" y="4754835"/>
            <a:ext cx="488251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Data-protection officer</a:t>
            </a:r>
            <a:endParaRPr lang="en-US" sz="2175" dirty="0"/>
          </a:p>
        </p:txBody>
      </p:sp>
      <p:sp>
        <p:nvSpPr>
          <p:cNvPr id="13" name="Text 10"/>
          <p:cNvSpPr/>
          <p:nvPr/>
        </p:nvSpPr>
        <p:spPr>
          <a:xfrm>
            <a:off x="6924675" y="5169173"/>
            <a:ext cx="4882515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Guardian of consent and privacy</a:t>
            </a:r>
            <a:endParaRPr lang="en-US" sz="1875" dirty="0"/>
          </a:p>
        </p:txBody>
      </p:sp>
      <p:sp>
        <p:nvSpPr>
          <p:cNvPr id="14" name="Shape 11"/>
          <p:cNvSpPr/>
          <p:nvPr/>
        </p:nvSpPr>
        <p:spPr>
          <a:xfrm>
            <a:off x="12020550" y="4402410"/>
            <a:ext cx="5219700" cy="1809750"/>
          </a:xfrm>
          <a:prstGeom prst="roundRect">
            <a:avLst>
              <a:gd name="adj" fmla="val 12632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411075" y="4754835"/>
            <a:ext cx="488251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Lived-experience panel</a:t>
            </a:r>
            <a:endParaRPr lang="en-US" sz="2175" dirty="0"/>
          </a:p>
        </p:txBody>
      </p:sp>
      <p:sp>
        <p:nvSpPr>
          <p:cNvPr id="16" name="Text 13"/>
          <p:cNvSpPr/>
          <p:nvPr/>
        </p:nvSpPr>
        <p:spPr>
          <a:xfrm>
            <a:off x="12411075" y="5169173"/>
            <a:ext cx="4882515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8A70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PPIE — carers shaping every decision</a:t>
            </a:r>
            <a:endParaRPr lang="en-US" sz="1875" dirty="0"/>
          </a:p>
        </p:txBody>
      </p:sp>
      <p:sp>
        <p:nvSpPr>
          <p:cNvPr id="17" name="Text 14"/>
          <p:cNvSpPr/>
          <p:nvPr/>
        </p:nvSpPr>
        <p:spPr>
          <a:xfrm>
            <a:off x="1047750" y="6555060"/>
            <a:ext cx="1781175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shown; names to be added.</a:t>
            </a:r>
            <a:endParaRPr lang="en-US" sz="18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16540535" y="9510713"/>
            <a:ext cx="87116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· 21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4CDA6">
                  <a:alpha val="100000"/>
                </a:srgbClr>
              </a:gs>
              <a:gs pos="48000">
                <a:srgbClr val="E4A79E">
                  <a:alpha val="100000"/>
                </a:srgbClr>
              </a:gs>
              <a:gs pos="100000">
                <a:srgbClr val="D5A3B2">
                  <a:alpha val="100000"/>
                </a:srgbClr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047750" y="2326481"/>
            <a:ext cx="14716125" cy="1521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495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Help us keep a little light for the people who hold everyone else.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047750" y="4381500"/>
            <a:ext cx="5219700" cy="1959769"/>
          </a:xfrm>
          <a:prstGeom prst="roundRect">
            <a:avLst>
              <a:gd name="adj" fmla="val 12637"/>
            </a:avLst>
          </a:prstGeom>
          <a:solidFill>
            <a:srgbClr val="FAF2E8">
              <a:alpha val="7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57325" y="4752975"/>
            <a:ext cx="484060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57325" y="5148263"/>
            <a:ext cx="484060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with us.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457325" y="5624513"/>
            <a:ext cx="4840605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ask to be set.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6534150" y="4381500"/>
            <a:ext cx="5219700" cy="1959769"/>
          </a:xfrm>
          <a:prstGeom prst="roundRect">
            <a:avLst>
              <a:gd name="adj" fmla="val 12637"/>
            </a:avLst>
          </a:prstGeom>
          <a:solidFill>
            <a:srgbClr val="FAF2E8">
              <a:alpha val="7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3725" y="4752975"/>
            <a:ext cx="484060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43725" y="5148263"/>
            <a:ext cx="4532567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Collaborate on carer-wellbeing validation.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2020550" y="4381500"/>
            <a:ext cx="5219700" cy="1959769"/>
          </a:xfrm>
          <a:prstGeom prst="roundRect">
            <a:avLst>
              <a:gd name="adj" fmla="val 12637"/>
            </a:avLst>
          </a:prstGeom>
          <a:solidFill>
            <a:srgbClr val="FAF2E8">
              <a:alpha val="7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0125" y="4752975"/>
            <a:ext cx="484060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430125" y="5148263"/>
            <a:ext cx="484060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early access.</a:t>
            </a:r>
            <a:endParaRPr lang="en-US" sz="21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7750" y="6950869"/>
            <a:ext cx="495300" cy="4953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771650" y="7003256"/>
            <a:ext cx="2988789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little light, kept.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14511338" y="7055644"/>
            <a:ext cx="300180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nimind@wellnetixltd.com</a:t>
            </a:r>
            <a:endParaRPr lang="en-US" sz="1950" dirty="0"/>
          </a:p>
        </p:txBody>
      </p:sp>
      <p:sp>
        <p:nvSpPr>
          <p:cNvPr id="17" name="Text 14"/>
          <p:cNvSpPr/>
          <p:nvPr/>
        </p:nvSpPr>
        <p:spPr>
          <a:xfrm>
            <a:off x="16491645" y="9510713"/>
            <a:ext cx="9200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5F4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· 21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252538"/>
            <a:ext cx="17811750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200" spc="-37" kern="0" dirty="0">
                <a:solidFill>
                  <a:srgbClr val="4A35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numbers, sourced.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47750" y="2258318"/>
            <a:ext cx="7886700" cy="1539180"/>
          </a:xfrm>
          <a:prstGeom prst="roundRect">
            <a:avLst>
              <a:gd name="adj" fmla="val 12377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62075" y="2515493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UK: 5.8M unpaid carers · £184bn/yr value of care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62075" y="2877443"/>
            <a:ext cx="747579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Carers UK, Key Facts &amp; Figures / Facts About Carers (2025) ·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carersuk.org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353550" y="2258318"/>
            <a:ext cx="7886700" cy="1539180"/>
          </a:xfrm>
          <a:prstGeom prst="roundRect">
            <a:avLst>
              <a:gd name="adj" fmla="val 12377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67875" y="2515493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UK: 63% say caring harms their mental health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667875" y="2877443"/>
            <a:ext cx="798385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Carers UK, State of Caring 2024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47750" y="4007048"/>
            <a:ext cx="7886700" cy="1207740"/>
          </a:xfrm>
          <a:prstGeom prst="roundRect">
            <a:avLst>
              <a:gd name="adj" fmla="val 1577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62075" y="4264223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US: 63M family caregivers, +45% since 2015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62075" y="4626173"/>
            <a:ext cx="798385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AARP &amp; National Alliance for Caregiving, Caregiving in the US 2025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53550" y="4007048"/>
            <a:ext cx="7886700" cy="1207740"/>
          </a:xfrm>
          <a:prstGeom prst="roundRect">
            <a:avLst>
              <a:gd name="adj" fmla="val 1577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67875" y="4264223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US: $1.01 trillion/yr value of unpaid care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667875" y="4626173"/>
            <a:ext cx="798385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AARP, Valuing the Invaluable (2026 update) ·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aarp.org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5424339"/>
            <a:ext cx="7886700" cy="1824930"/>
          </a:xfrm>
          <a:prstGeom prst="roundRect">
            <a:avLst>
              <a:gd name="adj" fmla="val 1043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2075" y="5681514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 in 5 carers at risk of burnout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62075" y="6043464"/>
            <a:ext cx="747579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Umbrella review of informal-caregiver mental-health meta-analyses (2025) ·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sciencedirect.com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353550" y="5424339"/>
            <a:ext cx="7886700" cy="1824930"/>
          </a:xfrm>
          <a:prstGeom prst="roundRect">
            <a:avLst>
              <a:gd name="adj" fmla="val 10439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67875" y="5681514"/>
            <a:ext cx="747579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mental health: ~$33bn (2025) → ~$180bn (2035), ~18.5% CAGR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667875" y="6329214"/>
            <a:ext cx="747579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Research Future, Digital Mental Health Market (2025) ·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A463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marketresearchfuture.com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47750" y="7458819"/>
            <a:ext cx="7886700" cy="1207740"/>
          </a:xfrm>
          <a:prstGeom prst="roundRect">
            <a:avLst>
              <a:gd name="adj" fmla="val 15773"/>
            </a:avLst>
          </a:prstGeom>
          <a:solidFill>
            <a:srgbClr val="FFFDF8"/>
          </a:solidFill>
          <a:ln w="9525">
            <a:solidFill>
              <a:srgbClr val="EAD9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62075" y="7715994"/>
            <a:ext cx="79838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A35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Mental-health apps: ~$9bn (2025) → ~$23bn (2030)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362075" y="8077944"/>
            <a:ext cx="798385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7A6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MarketsandMarkets, Mental Health Apps Market (2025)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353550" y="7458819"/>
            <a:ext cx="7886700" cy="1207740"/>
          </a:xfrm>
          <a:prstGeom prst="roundRect">
            <a:avLst>
              <a:gd name="adj" fmla="val 15773"/>
            </a:avLst>
          </a:prstGeom>
          <a:gradFill rotWithShape="1">
            <a:gsLst>
              <a:gs pos="0">
                <a:srgbClr val="F4CDA6">
                  <a:alpha val="40000"/>
                </a:srgbClr>
              </a:gs>
              <a:gs pos="100000">
                <a:srgbClr val="D5A3B2">
                  <a:alpha val="35000"/>
                </a:srgbClr>
              </a:gs>
            </a:gsLst>
            <a:lin ang="3600000" scaled="0"/>
          </a:gradFill>
          <a:ln w="9525">
            <a:solidFill>
              <a:srgbClr val="EAD9C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67875" y="7717408"/>
            <a:ext cx="7475792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i="1" dirty="0">
                <a:solidFill>
                  <a:srgbClr val="5F41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figures are third-party estimates; ranges reflect differing methodologies.</a:t>
            </a:r>
            <a:endParaRPr lang="en-US" sz="1875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9541669"/>
            <a:ext cx="247650" cy="24765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304925" y="9520238"/>
            <a:ext cx="63564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463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6542916" y="9510713"/>
            <a:ext cx="86878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50" kern="0" dirty="0">
                <a:solidFill>
                  <a:srgbClr val="B08D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· 21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2026-07-03T17:59:28Z</dcterms:created>
  <dcterms:modified xsi:type="dcterms:W3CDTF">2026-07-03T17:59:28Z</dcterms:modified>
</cp:coreProperties>
</file>