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2.svg" ContentType="image/svg+xml"/>
  <Override PartName="/ppt/media/image-10-2.svg" ContentType="image/svg+xml"/>
  <Override PartName="/ppt/media/image-11-2.svg" ContentType="image/svg+xml"/>
  <Override PartName="/ppt/media/image-12-2.svg" ContentType="image/svg+xml"/>
  <Override PartName="/ppt/media/image-13-2.svg" ContentType="image/svg+xml"/>
  <Override PartName="/ppt/media/image-14-2.svg" ContentType="image/svg+xml"/>
  <Override PartName="/ppt/media/image-15-2.svg" ContentType="image/svg+xml"/>
  <Override PartName="/ppt/media/image-16-2.svg" ContentType="image/svg+xml"/>
  <Override PartName="/ppt/media/image-16-4.svg" ContentType="image/svg+xml"/>
  <Override PartName="/ppt/media/image-17-2.svg" ContentType="image/svg+xml"/>
  <Override PartName="/ppt/media/image-18-2.svg" ContentType="image/svg+xml"/>
  <Override PartName="/ppt/media/image-19-2.svg" ContentType="image/svg+xml"/>
  <Override PartName="/ppt/media/image-19-4.svg" ContentType="image/svg+xml"/>
  <Override PartName="/ppt/media/image-2-2.svg" ContentType="image/svg+xml"/>
  <Override PartName="/ppt/media/image-20-2.svg" ContentType="image/svg+xml"/>
  <Override PartName="/ppt/media/image-21-2.svg" ContentType="image/svg+xml"/>
  <Override PartName="/ppt/media/image-3-2.svg" ContentType="image/svg+xml"/>
  <Override PartName="/ppt/media/image-4-2.svg" ContentType="image/svg+xml"/>
  <Override PartName="/ppt/media/image-5-2.svg" ContentType="image/svg+xml"/>
  <Override PartName="/ppt/media/image-6-2.svg" ContentType="image/svg+xml"/>
  <Override PartName="/ppt/media/image-7-2.svg" ContentType="image/svg+xml"/>
  <Override PartName="/ppt/media/image-8-2.svg" ContentType="image/svg+xml"/>
  <Override PartName="/ppt/media/image-8-4.svg" ContentType="image/svg+xml"/>
  <Override PartName="/ppt/media/image-9-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 — a warm, private, non-clinical wellbeing companion for unpaid family carers. Wellnetix Ltd, 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63% say caring harms their mental health; roughly 1 in 5 at risk of burnout; many never even call themselves a carer.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UK: 5.8M carers, £184bn a year — about a second NHS. US: 63M caregivers, up 45% since 2015, $1.01 trillion a year, about 1 in 4 adults.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kinds of carer — different lives, the same quiet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Clinical apps feel medical; wellness apps guilt-trip with streaks and scores; carer services are fragmented. Nothing is built for the carer.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CARER: a warm, private, non-clinical AI companion. Listens, remembers your words — never verdicts — never scores you, and points to real help when you want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moments from the product — screenshots to be dropped into the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Eleven features, one principle: built to hold you, not to manage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written, enforced promises. This is the product's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Four-directional crisis support — free, offline, one tap, before sign-in, independent of the AI. Region-aware resources: UK + US live, safe global fallback. UK GDPR, consent-first, clinical-safety and DPO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On-device AI, a deterministic safety spine outside the warm model — independently red-teamed, all green — portable all-API backend, end-to-end encryption.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Carer-wellbeing research plus lived experience; an enforced constitution; signposting not advice; independently red-teamed. A consent-based foundation for research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TAM: digital mental health ~$33bn 2025 to ~$180bn 2035 (~18.5% CAGR); apps ~$9bn to ~$23bn by 2030. SAM: ~69M adult carers in launch markets. SOM: early UK wedge via early access and partnerships.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 first, then US, then more countries — crisis localisation gates each market. Channels: carer charities, NHS and local authorities, employers, app stores, organic. Free removes all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is free — accessibility and trust; crisis support always free. Sustained by an optional supporter tier, donations and partnerships. Never by charging carers or selling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 sits alone in the carer-specific, non-clinical, private quadrant. Wedge: carer-specific, non-clinical, on-device privacy, safety-first, anti-guilt.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Feature-complete, safety gates green, region-aware crisis live, website and store kits ready, in early access. Pre-launch — a real, reviewable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Now: UK launch, bundle the on-device model, sign-offs. Next: US, partnerships, research validation. Later: more countries, deeper personalisation, a research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Wellnetix Ltd, UK — a small mission-driven team, governed by a clinical-safety lead, a DPO and a PPIE panel. Names to be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Investors: partner with us. Academics: collaborate on validation. Everyone: join early access. A little light,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cited figure mapped to its source. Market figures are third-party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34375" y="2028825"/>
            <a:ext cx="1619250" cy="1619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05279" y="3971925"/>
            <a:ext cx="3165187" cy="1162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50" spc="150" kern="0" dirty="0">
                <a:solidFill>
                  <a:srgbClr val="8F4E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8850" dirty="0"/>
          </a:p>
        </p:txBody>
      </p:sp>
      <p:sp>
        <p:nvSpPr>
          <p:cNvPr id="5" name="Text 2"/>
          <p:cNvSpPr/>
          <p:nvPr/>
        </p:nvSpPr>
        <p:spPr>
          <a:xfrm>
            <a:off x="7558980" y="5381625"/>
            <a:ext cx="3486961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4238625" y="6043613"/>
            <a:ext cx="98107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warm, private, non-clinical wellbeing companion for unpaid family carers.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243242" y="7262813"/>
            <a:ext cx="1667321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86129" y="7372350"/>
            <a:ext cx="1257746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062963" y="7262813"/>
            <a:ext cx="873547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05851" y="7372350"/>
            <a:ext cx="463972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18+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0088910" y="7262813"/>
            <a:ext cx="955849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1797" y="7372350"/>
            <a:ext cx="546274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-914400" y="9491663"/>
            <a:ext cx="2011680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Wellnetix Ltd · United Kingdom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200150"/>
            <a:ext cx="883605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633538"/>
            <a:ext cx="8273758" cy="2086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Carers hold everyone together, and quietly fall apart.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4024685"/>
            <a:ext cx="6278880" cy="1366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2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carers are exhausted, isolated and under-supported. The work is relentless — and almost entirely invisible.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37775" y="1047750"/>
            <a:ext cx="7302475" cy="2016398"/>
          </a:xfrm>
          <a:prstGeom prst="roundRect">
            <a:avLst>
              <a:gd name="adj" fmla="val 1228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47350" y="1400175"/>
            <a:ext cx="713165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0347350" y="2352675"/>
            <a:ext cx="713165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carers say caring has harmed their mental health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937775" y="3292748"/>
            <a:ext cx="7302475" cy="2016398"/>
          </a:xfrm>
          <a:prstGeom prst="roundRect">
            <a:avLst>
              <a:gd name="adj" fmla="val 1228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47350" y="3645173"/>
            <a:ext cx="713165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in 5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10347350" y="4597673"/>
            <a:ext cx="713165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at risk of burnout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937775" y="5537746"/>
            <a:ext cx="7302475" cy="1055340"/>
          </a:xfrm>
          <a:prstGeom prst="roundRect">
            <a:avLst>
              <a:gd name="adj" fmla="val 23466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7350" y="5852071"/>
            <a:ext cx="7131658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don’t even call themselves a carer.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37775" y="6821686"/>
            <a:ext cx="752154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Carers UK, State of Caring 2024 · Umbrella review of caregiver mental-health meta-analyses (2025)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91645" y="9510713"/>
            <a:ext cx="9200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21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vast, invisible, growing population.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442374" cy="3543300"/>
          </a:xfrm>
          <a:prstGeom prst="roundRect">
            <a:avLst>
              <a:gd name="adj" fmla="val 806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2575" y="2959373"/>
            <a:ext cx="70759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KINGDOM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2575" y="3507060"/>
            <a:ext cx="2299729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5.8M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552575" y="4535760"/>
            <a:ext cx="229972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carers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4176638" y="3507060"/>
            <a:ext cx="325858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£184bn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4176638" y="4535760"/>
            <a:ext cx="325858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 each year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552575" y="5107260"/>
            <a:ext cx="6432724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1" name="Text 9"/>
          <p:cNvSpPr/>
          <p:nvPr/>
        </p:nvSpPr>
        <p:spPr>
          <a:xfrm>
            <a:off x="1552575" y="5345385"/>
            <a:ext cx="662570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a second NHS.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833024" y="2530748"/>
            <a:ext cx="8407226" cy="3543300"/>
          </a:xfrm>
          <a:prstGeom prst="roundRect">
            <a:avLst>
              <a:gd name="adj" fmla="val 806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37849" y="2959373"/>
            <a:ext cx="8137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337849" y="3507060"/>
            <a:ext cx="4491491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63M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9337849" y="4535760"/>
            <a:ext cx="44914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caregivers · +45% since 2015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3916323" y="3507060"/>
            <a:ext cx="281705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$1.01T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3916323" y="4535760"/>
            <a:ext cx="281705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 each year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337849" y="5107260"/>
            <a:ext cx="7397576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9" name="Text 17"/>
          <p:cNvSpPr/>
          <p:nvPr/>
        </p:nvSpPr>
        <p:spPr>
          <a:xfrm>
            <a:off x="9337849" y="5345385"/>
            <a:ext cx="7619504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Around 1 in 4 adults.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6397898"/>
            <a:ext cx="178117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Carers UK, Key Facts &amp; Figures (2025) · AARP &amp; NAC, Caregiving in the US 2025 · AARP, Valuing the Invaluable (2026 update)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6489859" y="9510713"/>
            <a:ext cx="92184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21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CARERS ARE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kind of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735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9225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100000">
                <a:srgbClr val="E4A79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6" name="Text 4"/>
          <p:cNvSpPr/>
          <p:nvPr/>
        </p:nvSpPr>
        <p:spPr>
          <a:xfrm>
            <a:off x="1419225" y="31498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for a parent through dementia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27750" y="2473598"/>
            <a:ext cx="5232425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99225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9" name="Text 7"/>
          <p:cNvSpPr/>
          <p:nvPr/>
        </p:nvSpPr>
        <p:spPr>
          <a:xfrm>
            <a:off x="6899225" y="3149873"/>
            <a:ext cx="462415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for a partner through cancer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007825" y="24735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79300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2" name="Text 10"/>
          <p:cNvSpPr/>
          <p:nvPr/>
        </p:nvSpPr>
        <p:spPr>
          <a:xfrm>
            <a:off x="12379300" y="31498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parent of a disabled or autistic child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44928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19225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D5A3B2">
                  <a:alpha val="100000"/>
                </a:srgbClr>
              </a:gs>
              <a:gs pos="100000">
                <a:srgbClr val="E4A79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5" name="Text 13"/>
          <p:cNvSpPr/>
          <p:nvPr/>
        </p:nvSpPr>
        <p:spPr>
          <a:xfrm>
            <a:off x="1419225" y="51691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parent of an adult child living with mental illness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27750" y="4492898"/>
            <a:ext cx="5232425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99225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E4A79E">
                  <a:alpha val="100000"/>
                </a:srgbClr>
              </a:gs>
              <a:gs pos="100000">
                <a:srgbClr val="F4CDA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8" name="Text 16"/>
          <p:cNvSpPr/>
          <p:nvPr/>
        </p:nvSpPr>
        <p:spPr>
          <a:xfrm>
            <a:off x="6899225" y="5169173"/>
            <a:ext cx="462415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young-adult carer, just turned 18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2007825" y="44928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79300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D5A3B2">
                  <a:alpha val="100000"/>
                </a:srgbClr>
              </a:gs>
              <a:gs pos="100000">
                <a:srgbClr val="F4CDA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21" name="Text 19"/>
          <p:cNvSpPr/>
          <p:nvPr/>
        </p:nvSpPr>
        <p:spPr>
          <a:xfrm>
            <a:off x="12379300" y="5169173"/>
            <a:ext cx="4938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Someone in the after of loss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38125" y="6683648"/>
            <a:ext cx="1781175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lives, the same quiet weight.</a:t>
            </a:r>
            <a:endParaRPr lang="en-US" sz="25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6483385" y="9510713"/>
            <a:ext cx="92831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21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TODAY’S SUPPORT FAILS THEM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is built for the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68848"/>
            <a:ext cx="5194250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4475" y="3016523"/>
            <a:ext cx="468688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apps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14475" y="3668985"/>
            <a:ext cx="4388624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medical and judgy — built around symptoms and diagnoses, not a carer’s life.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546800" y="2568848"/>
            <a:ext cx="5194325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3525" y="3016523"/>
            <a:ext cx="4686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apps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013525" y="3668985"/>
            <a:ext cx="438870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Pile on streaks, scores and guilt — one more thing to fail at on a hard day.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2045925" y="2568848"/>
            <a:ext cx="5194325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2650" y="3016523"/>
            <a:ext cx="4686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 services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512650" y="3668985"/>
            <a:ext cx="438870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and hard to reach — postcode lotteries, waiting lists, forms.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38125" y="5850210"/>
            <a:ext cx="178117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Carers don’t need another to-do list.</a:t>
            </a:r>
            <a:endParaRPr lang="en-US" sz="27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95440" y="9510713"/>
            <a:ext cx="91626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21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047750" y="234835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4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81746"/>
            <a:ext cx="13735050" cy="1645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5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look after them. CARER looks after a little of you.</a:t>
            </a:r>
            <a:endParaRPr lang="en-US" sz="5550" dirty="0"/>
          </a:p>
        </p:txBody>
      </p:sp>
      <p:sp>
        <p:nvSpPr>
          <p:cNvPr id="5" name="Shape 3"/>
          <p:cNvSpPr/>
          <p:nvPr/>
        </p:nvSpPr>
        <p:spPr>
          <a:xfrm>
            <a:off x="10477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01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that listens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1625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149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Remembers your words — never verdicts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2773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297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scores you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921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445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to real help, when you want it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" y="7009954"/>
            <a:ext cx="178117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i="1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28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89338" y="9510713"/>
            <a:ext cx="9223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21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feels like.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27051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003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6" name="Text 4"/>
          <p:cNvSpPr/>
          <p:nvPr/>
        </p:nvSpPr>
        <p:spPr>
          <a:xfrm>
            <a:off x="34266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72519" y="7822853"/>
            <a:ext cx="29529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that listens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0579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531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0" name="Text 8"/>
          <p:cNvSpPr/>
          <p:nvPr/>
        </p:nvSpPr>
        <p:spPr>
          <a:xfrm>
            <a:off x="67794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81936" y="7822853"/>
            <a:ext cx="30484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words, remembered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107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5059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4" name="Text 12"/>
          <p:cNvSpPr/>
          <p:nvPr/>
        </p:nvSpPr>
        <p:spPr>
          <a:xfrm>
            <a:off x="101322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67937" y="7822853"/>
            <a:ext cx="275533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scores. No streaks.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7635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28587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8" name="Text 16"/>
          <p:cNvSpPr/>
          <p:nvPr/>
        </p:nvSpPr>
        <p:spPr>
          <a:xfrm>
            <a:off x="134850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113097" y="7822853"/>
            <a:ext cx="23322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Help, one tap away</a:t>
            </a:r>
            <a:endParaRPr lang="en-US" sz="19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506155" y="9510713"/>
            <a:ext cx="90554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21</a:t>
            </a:r>
            <a:endParaRPr lang="en-US" sz="1800" dirty="0"/>
          </a:p>
        </p:txBody>
      </p:sp>
      <p:pic>
        <p:nvPicPr>
          <p:cNvPr id="23" name="Picture 22" descr="deck-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hold you, not to manage you.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3975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chat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23975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 voice that listens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48263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24488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5424488" y="2907953"/>
            <a:ext cx="343866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your words, never verdicts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48775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No-score reflection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9525000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Notice, without measuring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349288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25513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private space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3625513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 alone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3975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grief space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323975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after of loss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48263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4488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journey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5424488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story, in your words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248775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25000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&amp; safeguarding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9525000" y="4643289"/>
            <a:ext cx="343866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directions · free · offline · one tap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349288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25513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Disease-aware signposting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13625513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real charities and real help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47750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23975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Gentle notifications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1323975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quiet hours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148263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24488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5424488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design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248775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25000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or delete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9525000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Anytime, in full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3349288" y="5749975"/>
            <a:ext cx="3890962" cy="1205805"/>
          </a:xfrm>
          <a:prstGeom prst="roundRect">
            <a:avLst>
              <a:gd name="adj" fmla="val 15799"/>
            </a:avLst>
          </a:prstGeom>
          <a:gradFill rotWithShape="1">
            <a:gsLst>
              <a:gs pos="0">
                <a:srgbClr val="F4CDA6">
                  <a:alpha val="100000"/>
                </a:srgbClr>
              </a:gs>
              <a:gs pos="55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3600000" scaled="0"/>
          </a:gra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47119" y="6105227"/>
            <a:ext cx="495300" cy="495300"/>
          </a:xfrm>
          <a:prstGeom prst="rect">
            <a:avLst/>
          </a:prstGeom>
        </p:spPr>
      </p:pic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41" name="Text 37"/>
          <p:cNvSpPr/>
          <p:nvPr/>
        </p:nvSpPr>
        <p:spPr>
          <a:xfrm>
            <a:off x="16489635" y="9510713"/>
            <a:ext cx="9220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21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2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4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CONSTITUTION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FA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different set of rules.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315939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2530748"/>
            <a:ext cx="19414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13346" y="2549798"/>
            <a:ext cx="307359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score you.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448800" y="315939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448800" y="2530748"/>
            <a:ext cx="25271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872960" y="2549798"/>
            <a:ext cx="483438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sits outside the AI model.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400712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47750" y="3378473"/>
            <a:ext cx="2501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469380" y="3397523"/>
            <a:ext cx="605697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words stay yours — never verdicts.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48800" y="400712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448800" y="3378473"/>
            <a:ext cx="26342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883676" y="3397523"/>
            <a:ext cx="3455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by design.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47750" y="485484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4226198"/>
            <a:ext cx="256654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5854" y="4245248"/>
            <a:ext cx="760134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build a profile of the person you care for.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48800" y="485484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448800" y="4226198"/>
            <a:ext cx="22554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845799" y="4245248"/>
            <a:ext cx="41595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every kind of carer.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570257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5073923"/>
            <a:ext cx="251743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470943" y="5092973"/>
            <a:ext cx="637940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streaks, no guilt, no engagement traps.</a:t>
            </a:r>
            <a:endParaRPr lang="en-US" sz="22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6489338" y="9510713"/>
            <a:ext cx="9223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21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&amp; ETHICS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is the spine, not a feature.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81125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you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81125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weight is too much to carry alone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5153025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2593628"/>
            <a:ext cx="330622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person you care for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486400" y="343182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they are the one in danger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258300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91675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Harm from others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591675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in your life is the danger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3363575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96950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Safeguarding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696950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a child or vulnerable adult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047750" y="4741515"/>
            <a:ext cx="965374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4855815"/>
            <a:ext cx="54627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146474" y="4741515"/>
            <a:ext cx="1151855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394124" y="4855815"/>
            <a:ext cx="73275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431679" y="4741515"/>
            <a:ext cx="1308720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679329" y="4855815"/>
            <a:ext cx="88962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873749" y="4741515"/>
            <a:ext cx="2587451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1399" y="4855815"/>
            <a:ext cx="21697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before sign-in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94550" y="4741515"/>
            <a:ext cx="2668935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842200" y="4855815"/>
            <a:ext cx="225370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of the AI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47750" y="5574953"/>
            <a:ext cx="7943850" cy="19050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27" name="Text 25"/>
          <p:cNvSpPr/>
          <p:nvPr/>
        </p:nvSpPr>
        <p:spPr>
          <a:xfrm>
            <a:off x="1047750" y="5784503"/>
            <a:ext cx="818216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Region-aware crisis resources.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+ US now; a safe global fallback everywhere else.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96400" y="5574953"/>
            <a:ext cx="7943850" cy="19050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29" name="Text 27"/>
          <p:cNvSpPr/>
          <p:nvPr/>
        </p:nvSpPr>
        <p:spPr>
          <a:xfrm>
            <a:off x="9296400" y="5784503"/>
            <a:ext cx="818216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Governed.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GDPR, consent-first, clinical-safety + DPO governance.</a:t>
            </a:r>
            <a:endParaRPr lang="en-US" sz="19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538079" y="9510713"/>
            <a:ext cx="87362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21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MOAT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by architecture. Safe by design.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317403"/>
            <a:ext cx="5206975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76375" y="2707928"/>
            <a:ext cx="478469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On-device AI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76375" y="3274665"/>
            <a:ext cx="448021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the phone. Works offline. Your words don’t leave the device by default.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40475" y="2317403"/>
            <a:ext cx="5207050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9100" y="2707928"/>
            <a:ext cx="47847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deterministic safety spine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69100" y="3274665"/>
            <a:ext cx="4480294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crisis gate and classifiers run outside the warm model — safety can’t be bypassed. Independently red-teamed; all tests green.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033275" y="2317403"/>
            <a:ext cx="5206975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61900" y="2707928"/>
            <a:ext cx="478469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Portable backend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461900" y="3274665"/>
            <a:ext cx="448021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All-API architecture with end-to-end encryption — no lock-in, no data lake.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47750" y="5570190"/>
            <a:ext cx="16192500" cy="102870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76375" y="5970240"/>
            <a:ext cx="153200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35809" y="5884515"/>
            <a:ext cx="1209021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Carer-specific design · a safety architecture competitors don’t have · privacy by default</a:t>
            </a:r>
            <a:endParaRPr lang="en-US" sz="2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6589350" y="9510713"/>
            <a:ext cx="8223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21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Grounded in evidence, built to a constitution.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2902223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+ lived experience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457325" y="3335610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carer-wellbeing research and PPIE — carers shaping the product throughout.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267825" y="2530748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77400" y="2902223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written, enforced constitution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677400" y="3335610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and consent-first — rules the product cannot break.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7750" y="4697685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7325" y="5069160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Signposting, not advice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1457325" y="5502548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 points to real help — it never diagnoses, treats or prescribes.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267825" y="4697685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77400" y="5069160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Independently tested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677400" y="5502548"/>
            <a:ext cx="78686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Red-teamed safety and grounding, verified by outside eyes.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238125" y="7036073"/>
            <a:ext cx="1781175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privacy-preserving, consent-based foundation for carer-wellbeing research at scale.</a:t>
            </a:r>
            <a:endParaRPr lang="en-US" sz="2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6542916" y="9510713"/>
            <a:ext cx="8687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21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 market meeting a vast need.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133475" y="2553146"/>
            <a:ext cx="5543550" cy="5543550"/>
          </a:xfrm>
          <a:prstGeom prst="ellipse">
            <a:avLst/>
          </a:prstGeom>
          <a:solidFill>
            <a:srgbClr val="F4CDA6">
              <a:alpha val="45000"/>
            </a:srgbClr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29546" y="3200846"/>
            <a:ext cx="6275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085975" y="3810446"/>
            <a:ext cx="3638550" cy="3638550"/>
          </a:xfrm>
          <a:prstGeom prst="ellipse">
            <a:avLst/>
          </a:prstGeom>
          <a:solidFill>
            <a:srgbClr val="E4A79E">
              <a:alpha val="50000"/>
            </a:srgbClr>
          </a:solidFill>
          <a:ln w="9525">
            <a:solidFill>
              <a:srgbClr val="E0BF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4663" y="4477196"/>
            <a:ext cx="65729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8F4E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000375" y="4972496"/>
            <a:ext cx="1809750" cy="18097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9" name="Text 7"/>
          <p:cNvSpPr/>
          <p:nvPr/>
        </p:nvSpPr>
        <p:spPr>
          <a:xfrm>
            <a:off x="2962275" y="4972496"/>
            <a:ext cx="1885950" cy="1847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AF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24750" y="3900934"/>
            <a:ext cx="9715500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2241203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DIGITAL MENTAL HEALTH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2598390"/>
            <a:ext cx="10687050" cy="671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~$33bn → ~$180bn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524750" y="3308003"/>
            <a:ext cx="1068705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2035, ~18.5% CAGR · mental-health apps ~$9bn → ~$23bn by 2030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524750" y="5855940"/>
            <a:ext cx="9715500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5" name="Text 13"/>
          <p:cNvSpPr/>
          <p:nvPr/>
        </p:nvSpPr>
        <p:spPr>
          <a:xfrm>
            <a:off x="7524750" y="4196209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LAUNCH MARKETS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24750" y="4553396"/>
            <a:ext cx="10687050" cy="671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~69M adult carers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7524750" y="5263009"/>
            <a:ext cx="1068705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5.8M + US 63M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7524750" y="6151215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THE WEDGE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24750" y="6508403"/>
            <a:ext cx="1000696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early, reachable wedge of UK adult carers — via early access and carer-organisation &amp; employer partnerships.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7524750" y="7565678"/>
            <a:ext cx="10006965" cy="881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Market Research Future, Digital Mental Health Market (2025) · MarketsandMarkets, Mental Health Apps Market (2025) · Carers UK (2025) · AARP &amp; NAC (2025)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6541130" y="9510713"/>
            <a:ext cx="87057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21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first, then the world, safely.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4851350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2883173"/>
            <a:ext cx="447733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38275" y="3392760"/>
            <a:ext cx="447733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UK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1438275" y="3788048"/>
            <a:ext cx="44773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Adults, 18+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6146750" y="3283223"/>
            <a:ext cx="4000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718250" y="2530748"/>
            <a:ext cx="4851425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08775" y="2883173"/>
            <a:ext cx="447741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108775" y="3392760"/>
            <a:ext cx="447741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7108775" y="3788048"/>
            <a:ext cx="44774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resources localised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1817325" y="3283223"/>
            <a:ext cx="4000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88825" y="2530748"/>
            <a:ext cx="4851425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79350" y="2883173"/>
            <a:ext cx="447741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779350" y="3392760"/>
            <a:ext cx="447741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countries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12779350" y="3788048"/>
            <a:ext cx="44774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Localisation gates each market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047750" y="5007248"/>
            <a:ext cx="16209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768947" y="4883423"/>
            <a:ext cx="4967734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016597" y="4997723"/>
            <a:ext cx="462146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 charities — Carers UK, Carers Trust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7984331" y="4883423"/>
            <a:ext cx="2943820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8231981" y="4997723"/>
            <a:ext cx="253683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NHS &amp; local authorities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1175802" y="4883423"/>
            <a:ext cx="3923035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1423452" y="4997723"/>
            <a:ext cx="35454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carer-benefit schemes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15346487" y="4883423"/>
            <a:ext cx="1633612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15594137" y="4997723"/>
            <a:ext cx="121451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047750" y="5635898"/>
            <a:ext cx="2229073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295400" y="5750198"/>
            <a:ext cx="180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&amp; social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047750" y="6559823"/>
            <a:ext cx="1781175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removes all friction.</a:t>
            </a:r>
            <a:endParaRPr lang="en-US" sz="25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534656" y="9510713"/>
            <a:ext cx="87704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21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for carers. Sustainable by design.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943850" cy="2613050"/>
          </a:xfrm>
          <a:prstGeom prst="roundRect">
            <a:avLst>
              <a:gd name="adj" fmla="val 1020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3525" y="2978423"/>
            <a:ext cx="7669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33525" y="3411810"/>
            <a:ext cx="7181469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is free — for accessibility, and for trust. Crisis support is always free, for everyone.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296400" y="2530748"/>
            <a:ext cx="7943850" cy="2613050"/>
          </a:xfrm>
          <a:prstGeom prst="roundRect">
            <a:avLst>
              <a:gd name="adj" fmla="val 1020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2175" y="2978423"/>
            <a:ext cx="7669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BY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82175" y="3411810"/>
            <a:ext cx="7181469" cy="132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optional supporter tier and donations, plus partnerships with the NHS, councils, employers and charities.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5562898"/>
            <a:ext cx="16192500" cy="976312"/>
          </a:xfrm>
          <a:prstGeom prst="roundRect">
            <a:avLst>
              <a:gd name="adj" fmla="val 23415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3488" y="5877223"/>
            <a:ext cx="15821025" cy="3857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by charging carers. Never by selling data.</a:t>
            </a:r>
            <a:endParaRPr lang="en-US" sz="2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6546711" y="9510713"/>
            <a:ext cx="86498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21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CARER sits.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41203"/>
            <a:ext cx="7277100" cy="5753100"/>
          </a:xfrm>
          <a:prstGeom prst="roundRect">
            <a:avLst>
              <a:gd name="adj" fmla="val 3974"/>
            </a:avLst>
          </a:prstGeom>
          <a:solidFill>
            <a:srgbClr val="E0CDBA"/>
          </a:solidFill>
          <a:ln w="19050">
            <a:solidFill>
              <a:srgbClr val="E0CD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6800" y="2260253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526953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· Generic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960340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Headspace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71600" y="3341340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95825" y="2260253"/>
            <a:ext cx="3609975" cy="2847975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55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3600000" scaled="0"/>
          </a:gradFill>
          <a:ln/>
        </p:spPr>
      </p:sp>
      <p:sp>
        <p:nvSpPr>
          <p:cNvPr id="10" name="Text 8"/>
          <p:cNvSpPr/>
          <p:nvPr/>
        </p:nvSpPr>
        <p:spPr>
          <a:xfrm>
            <a:off x="5000625" y="2526953"/>
            <a:ext cx="3090386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E4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· Carer-specific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00625" y="3284190"/>
            <a:ext cx="400050" cy="4000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514975" y="3241328"/>
            <a:ext cx="101932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000625" y="3841403"/>
            <a:ext cx="309038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 here — private, on-device, safety-first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66800" y="5127278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15" name="Text 12"/>
          <p:cNvSpPr/>
          <p:nvPr/>
        </p:nvSpPr>
        <p:spPr>
          <a:xfrm>
            <a:off x="1371600" y="5393978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· Generic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827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Wysa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371600" y="6208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Woebot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4695825" y="5127278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19" name="Text 16"/>
          <p:cNvSpPr/>
          <p:nvPr/>
        </p:nvSpPr>
        <p:spPr>
          <a:xfrm>
            <a:off x="5000625" y="5393978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· Carer-specific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000625" y="5827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Mobilise</a:t>
            </a:r>
            <a:endParaRPr lang="en-US" sz="1950" dirty="0"/>
          </a:p>
        </p:txBody>
      </p:sp>
      <p:sp>
        <p:nvSpPr>
          <p:cNvPr id="21" name="Text 18"/>
          <p:cNvSpPr/>
          <p:nvPr/>
        </p:nvSpPr>
        <p:spPr>
          <a:xfrm>
            <a:off x="5000625" y="6208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 tools</a:t>
            </a:r>
            <a:endParaRPr lang="en-US" sz="1950" dirty="0"/>
          </a:p>
        </p:txBody>
      </p:sp>
      <p:sp>
        <p:nvSpPr>
          <p:cNvPr id="22" name="Text 19"/>
          <p:cNvSpPr/>
          <p:nvPr/>
        </p:nvSpPr>
        <p:spPr>
          <a:xfrm>
            <a:off x="8991600" y="3658046"/>
            <a:ext cx="90735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91600" y="428193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4" name="Text 21"/>
          <p:cNvSpPr/>
          <p:nvPr/>
        </p:nvSpPr>
        <p:spPr>
          <a:xfrm>
            <a:off x="9258300" y="4148584"/>
            <a:ext cx="20817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Carer-specific</a:t>
            </a:r>
            <a:endParaRPr lang="en-US" sz="2175" dirty="0"/>
          </a:p>
        </p:txBody>
      </p:sp>
      <p:sp>
        <p:nvSpPr>
          <p:cNvPr id="25" name="Shape 22"/>
          <p:cNvSpPr/>
          <p:nvPr/>
        </p:nvSpPr>
        <p:spPr>
          <a:xfrm>
            <a:off x="8991600" y="4805809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6" name="Text 23"/>
          <p:cNvSpPr/>
          <p:nvPr/>
        </p:nvSpPr>
        <p:spPr>
          <a:xfrm>
            <a:off x="9258300" y="4672459"/>
            <a:ext cx="175170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2175" dirty="0"/>
          </a:p>
        </p:txBody>
      </p:sp>
      <p:sp>
        <p:nvSpPr>
          <p:cNvPr id="27" name="Shape 24"/>
          <p:cNvSpPr/>
          <p:nvPr/>
        </p:nvSpPr>
        <p:spPr>
          <a:xfrm>
            <a:off x="8991600" y="532968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8" name="Text 25"/>
          <p:cNvSpPr/>
          <p:nvPr/>
        </p:nvSpPr>
        <p:spPr>
          <a:xfrm>
            <a:off x="9258300" y="5196334"/>
            <a:ext cx="2848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&amp; on-device</a:t>
            </a:r>
            <a:endParaRPr lang="en-US" sz="2175" dirty="0"/>
          </a:p>
        </p:txBody>
      </p:sp>
      <p:sp>
        <p:nvSpPr>
          <p:cNvPr id="29" name="Shape 26"/>
          <p:cNvSpPr/>
          <p:nvPr/>
        </p:nvSpPr>
        <p:spPr>
          <a:xfrm>
            <a:off x="8991600" y="5853559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30" name="Text 27"/>
          <p:cNvSpPr/>
          <p:nvPr/>
        </p:nvSpPr>
        <p:spPr>
          <a:xfrm>
            <a:off x="9258300" y="5720209"/>
            <a:ext cx="164455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Safety-first</a:t>
            </a:r>
            <a:endParaRPr lang="en-US" sz="2175" dirty="0"/>
          </a:p>
        </p:txBody>
      </p:sp>
      <p:sp>
        <p:nvSpPr>
          <p:cNvPr id="31" name="Shape 28"/>
          <p:cNvSpPr/>
          <p:nvPr/>
        </p:nvSpPr>
        <p:spPr>
          <a:xfrm>
            <a:off x="8991600" y="637743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32" name="Text 29"/>
          <p:cNvSpPr/>
          <p:nvPr/>
        </p:nvSpPr>
        <p:spPr>
          <a:xfrm>
            <a:off x="9258300" y="6244084"/>
            <a:ext cx="135053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Anti-guilt</a:t>
            </a:r>
            <a:endParaRPr lang="en-US" sz="2175" dirty="0"/>
          </a:p>
        </p:txBody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16540535" y="9510713"/>
            <a:ext cx="8711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21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Built, safe, and ready.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9264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075" y="283078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6" name="Text 4"/>
          <p:cNvSpPr/>
          <p:nvPr/>
        </p:nvSpPr>
        <p:spPr>
          <a:xfrm>
            <a:off x="1724025" y="2749823"/>
            <a:ext cx="37489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feature-complete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334500" y="249264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48825" y="283078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9" name="Text 7"/>
          <p:cNvSpPr/>
          <p:nvPr/>
        </p:nvSpPr>
        <p:spPr>
          <a:xfrm>
            <a:off x="10010775" y="2749823"/>
            <a:ext cx="725763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gates green — crisis red-team + grounding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3530873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075" y="3869010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2" name="Text 10"/>
          <p:cNvSpPr/>
          <p:nvPr/>
        </p:nvSpPr>
        <p:spPr>
          <a:xfrm>
            <a:off x="1724025" y="3788048"/>
            <a:ext cx="468016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Region-aware crisis support live</a:t>
            </a:r>
            <a:endParaRPr lang="en-US" sz="2175" dirty="0"/>
          </a:p>
        </p:txBody>
      </p:sp>
      <p:sp>
        <p:nvSpPr>
          <p:cNvPr id="13" name="Shape 11"/>
          <p:cNvSpPr/>
          <p:nvPr/>
        </p:nvSpPr>
        <p:spPr>
          <a:xfrm>
            <a:off x="9334500" y="3530873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48825" y="3869010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010775" y="3788048"/>
            <a:ext cx="358887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website ready</a:t>
            </a:r>
            <a:endParaRPr lang="en-US" sz="2175" dirty="0"/>
          </a:p>
        </p:txBody>
      </p:sp>
      <p:sp>
        <p:nvSpPr>
          <p:cNvPr id="16" name="Shape 14"/>
          <p:cNvSpPr/>
          <p:nvPr/>
        </p:nvSpPr>
        <p:spPr>
          <a:xfrm>
            <a:off x="1047750" y="456909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62075" y="490723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8" name="Text 16"/>
          <p:cNvSpPr/>
          <p:nvPr/>
        </p:nvSpPr>
        <p:spPr>
          <a:xfrm>
            <a:off x="1724025" y="4826273"/>
            <a:ext cx="63300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App Store + Google Play asset kit ready</a:t>
            </a:r>
            <a:endParaRPr lang="en-US" sz="2175" dirty="0"/>
          </a:p>
        </p:txBody>
      </p:sp>
      <p:sp>
        <p:nvSpPr>
          <p:cNvPr id="19" name="Shape 17"/>
          <p:cNvSpPr/>
          <p:nvPr/>
        </p:nvSpPr>
        <p:spPr>
          <a:xfrm>
            <a:off x="9334500" y="456909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8825" y="490723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0775" y="4826273"/>
            <a:ext cx="218603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early access</a:t>
            </a:r>
            <a:endParaRPr lang="en-US" sz="2175" dirty="0"/>
          </a:p>
        </p:txBody>
      </p:sp>
      <p:sp>
        <p:nvSpPr>
          <p:cNvPr id="22" name="Text 20"/>
          <p:cNvSpPr/>
          <p:nvPr/>
        </p:nvSpPr>
        <p:spPr>
          <a:xfrm>
            <a:off x="238125" y="5874023"/>
            <a:ext cx="1781175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Pre-launch — a real, reviewable product. No vanity metrics.</a:t>
            </a:r>
            <a:endParaRPr lang="en-US" sz="2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6552962" y="9510713"/>
            <a:ext cx="8587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· 21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next.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5194250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95425" y="2940323"/>
            <a:ext cx="472879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95425" y="3411810"/>
            <a:ext cx="472879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495425" y="3943276"/>
            <a:ext cx="472879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the on-device model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495425" y="4474741"/>
            <a:ext cx="4427867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Solicitor / ICO + clinical-safety sign-off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546800" y="2530748"/>
            <a:ext cx="5194325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94475" y="2940323"/>
            <a:ext cx="47288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94475" y="3411810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market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6994475" y="3943276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Carer-org &amp; employer partnerships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6994475" y="4474741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validation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2045925" y="2530748"/>
            <a:ext cx="5194325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600" y="2940323"/>
            <a:ext cx="47288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93600" y="3411810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countries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2493600" y="3943276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personalisation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2493600" y="4474741"/>
            <a:ext cx="4427944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platform for carer-wellbeing research</a:t>
            </a:r>
            <a:endParaRPr lang="en-US" sz="2025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6540907" y="9510713"/>
            <a:ext cx="87079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· 21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GOVERNANCE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Who’s behind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92648"/>
            <a:ext cx="16192500" cy="1604963"/>
          </a:xfrm>
          <a:prstGeom prst="roundRect">
            <a:avLst>
              <a:gd name="adj" fmla="val 15430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14475" y="3009379"/>
            <a:ext cx="571500" cy="571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1725" y="2883173"/>
            <a:ext cx="556322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Wellnetix Ltd · United Kingdom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2371725" y="3397523"/>
            <a:ext cx="55632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mission-driven team.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10477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382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Clinical-safety lead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1438275" y="5169173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accountability for safety decisions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65341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246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Data-protection officer</a:t>
            </a:r>
            <a:endParaRPr lang="en-US" sz="2175" dirty="0"/>
          </a:p>
        </p:txBody>
      </p:sp>
      <p:sp>
        <p:nvSpPr>
          <p:cNvPr id="13" name="Text 10"/>
          <p:cNvSpPr/>
          <p:nvPr/>
        </p:nvSpPr>
        <p:spPr>
          <a:xfrm>
            <a:off x="6924675" y="5169173"/>
            <a:ext cx="488251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Guardian of consent and privacy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120205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110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Lived-experience panel</a:t>
            </a:r>
            <a:endParaRPr lang="en-US" sz="2175" dirty="0"/>
          </a:p>
        </p:txBody>
      </p:sp>
      <p:sp>
        <p:nvSpPr>
          <p:cNvPr id="16" name="Text 13"/>
          <p:cNvSpPr/>
          <p:nvPr/>
        </p:nvSpPr>
        <p:spPr>
          <a:xfrm>
            <a:off x="12411075" y="5169173"/>
            <a:ext cx="488251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PPIE — carers shaping every decision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1047750" y="6555060"/>
            <a:ext cx="178117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shown; names to be added.</a:t>
            </a:r>
            <a:endParaRPr lang="en-US" sz="18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6540535" y="9510713"/>
            <a:ext cx="8711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· 21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047750" y="2326481"/>
            <a:ext cx="14716125" cy="1521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9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 us keep a little light for the people who hold everyone else.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7325" y="5148263"/>
            <a:ext cx="48406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us.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457325" y="5624513"/>
            <a:ext cx="484060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ask to be set.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65341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37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43725" y="5148263"/>
            <a:ext cx="453256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on carer-wellbeing validation.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20205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01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430125" y="5148263"/>
            <a:ext cx="48406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early access.</a:t>
            </a:r>
            <a:endParaRPr lang="en-US" sz="2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750" y="6950869"/>
            <a:ext cx="495300" cy="4953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771650" y="7003256"/>
            <a:ext cx="298878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4511338" y="7055644"/>
            <a:ext cx="30018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nimind@wellnetixltd.com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6491645" y="9510713"/>
            <a:ext cx="9200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· 21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20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numbers, sourced.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258318"/>
            <a:ext cx="7886700" cy="1539180"/>
          </a:xfrm>
          <a:prstGeom prst="roundRect">
            <a:avLst>
              <a:gd name="adj" fmla="val 123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251549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5.8M unpaid carers · £184bn/yr value of care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62075" y="2877443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UK, Key Facts &amp; Figures / Facts About Carers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carersuk.org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53550" y="2258318"/>
            <a:ext cx="7886700" cy="1539180"/>
          </a:xfrm>
          <a:prstGeom prst="roundRect">
            <a:avLst>
              <a:gd name="adj" fmla="val 123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7875" y="251549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63% say caring harms their mental health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67875" y="287744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UK, State of Caring 2024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4007048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2075" y="426422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US: 63M family caregivers, +45% since 2015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62075" y="462617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 &amp; National Alliance for Caregiving, Caregiving in the US 2025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53550" y="4007048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67875" y="426422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US: $1.01 trillion/yr value of unpaid care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462617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AARP, Valuing the Invaluable (2026 update)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aarp.org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5424339"/>
            <a:ext cx="7886700" cy="1824930"/>
          </a:xfrm>
          <a:prstGeom prst="roundRect">
            <a:avLst>
              <a:gd name="adj" fmla="val 104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2075" y="5681514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in 5 carers at risk of burnout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62075" y="6043464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Umbrella review of informal-caregiver mental-health meta-analyses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sciencedirect.com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353550" y="5424339"/>
            <a:ext cx="7886700" cy="1824930"/>
          </a:xfrm>
          <a:prstGeom prst="roundRect">
            <a:avLst>
              <a:gd name="adj" fmla="val 104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67875" y="5681514"/>
            <a:ext cx="747579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mental health: ~$33bn (2025) → ~$180bn (2035), ~18.5% CAGR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667875" y="6329214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 Future, Digital Mental Health Market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marketresearchfuture.com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7750" y="7458819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62075" y="7715994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Mental-health apps: ~$9bn (2025) → ~$23bn (2030)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62075" y="8077944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MarketsandMarkets, Mental Health Apps Market (2025)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353550" y="7458819"/>
            <a:ext cx="7886700" cy="1207740"/>
          </a:xfrm>
          <a:prstGeom prst="roundRect">
            <a:avLst>
              <a:gd name="adj" fmla="val 15773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67875" y="7717408"/>
            <a:ext cx="7475792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i="1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figures are third-party estimates; ranges reflect differing methodologies.</a:t>
            </a:r>
            <a:endParaRPr lang="en-US" sz="1875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6542916" y="9510713"/>
            <a:ext cx="8687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· 21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2026-07-03T17:59:28Z</dcterms:created>
  <dcterms:modified xsi:type="dcterms:W3CDTF">2026-07-03T17:59:28Z</dcterms:modified>
</cp:coreProperties>
</file>