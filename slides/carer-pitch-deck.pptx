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CARER — a warm, private, non-clinical wellbeing companion for unpaid family carers. Wellnetix Ltd, 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63% say caring harms their mental health; roughly 1 in 5 at risk of burnout; many never even call themselves a carer.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5.8M carers, £184bn a year — about a second NHS. US: 63M caregivers, up 45% since 2015, $1.01 trillion a year, about 1 in 4 adults.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kinds of carer — different lives, the same quiet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 apps feel medical; wellness apps guilt-trip with streaks and scores; carer services are fragmented. Nothing is built for the carer.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CARER: a warm, private, non-clinical AI companion. Listens, remembers your words — never verdicts — never scores you, and points to real help when you want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moments from the product — screenshots to be dropped into the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features, one principle: built to hold you, not to manage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written, enforced promises. This is the product's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Four-directional crisis support — free, offline, one tap, before sign-in, independent of the AI. Region-aware resources: UK + US live, safe global fallback. UK GDPR, consent-first, clinical-safety and DPO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On-device AI, a deterministic safety spine outside the warm model — independently red-teamed, all green — portable all-API backend, end-to-end encryption.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Carer-wellbeing research plus lived experience; an enforced constitution; signposting not advice; independently red-teamed. A consent-based foundation for research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digital mental health ~$33bn 2025 to ~$180bn 2035 (~18.5% CAGR); apps ~$9bn to ~$23bn by 2030. SAM: ~69M adult carers in launch markets. SOM: early UK wedge via early access and partnerships.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 first, then US, then more countries — crisis localisation gates each market. Channels: carer charities, NHS and local authorities, employers, app stores, organic. Free removes all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is free — accessibility and trust; crisis support always free. Sustained by an optional supporter tier, donations and partnerships. Never by charging carers or selling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CARER sits alone in the carer-specific, non-clinical, private quadrant. Wedge: carer-specific, non-clinical, on-device privacy, safety-first, anti-guilt.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Feature-complete, safety gates green, region-aware crisis live, website and store kits ready, in early access. Pre-launch — a real, reviewable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Now: UK launch, bundle the on-device model, sign-offs. Next: US, partnerships, research validation. Later: more countries, deeper personalisation, a research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Wellnetix Ltd, UK — a small mission-driven team, governed by a clinical-safety lead, a DPO and a PPIE panel. Names to be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Investors: partner with us. Academics: collaborate on validation. Everyone: join early access. A little light,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4CDA6">
                  <a:alpha val="100000"/>
                </a:srgbClr>
              </a:gs>
              <a:gs pos="48000">
                <a:srgbClr val="E4A79E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420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4375" y="2028825"/>
            <a:ext cx="1619250" cy="1619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5279" y="3971925"/>
            <a:ext cx="3165187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50" spc="150" kern="0" dirty="0">
                <a:solidFill>
                  <a:srgbClr val="8F4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7558980" y="5381625"/>
            <a:ext cx="3486961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i="1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light, kept.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4238625" y="6043613"/>
            <a:ext cx="98107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warm, private, non-clinical wellbeing companion for unpaid family carers.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7243242" y="7262813"/>
            <a:ext cx="1667321" cy="481012"/>
          </a:xfrm>
          <a:prstGeom prst="roundRect">
            <a:avLst>
              <a:gd name="adj" fmla="val 50000"/>
            </a:avLst>
          </a:prstGeom>
          <a:ln w="14288">
            <a:solidFill>
              <a:srgbClr val="5A3D2C">
                <a:alpha val="3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86129" y="7372350"/>
            <a:ext cx="1257746" cy="300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062963" y="7262813"/>
            <a:ext cx="873547" cy="481012"/>
          </a:xfrm>
          <a:prstGeom prst="roundRect">
            <a:avLst>
              <a:gd name="adj" fmla="val 50000"/>
            </a:avLst>
          </a:prstGeom>
          <a:ln w="14288">
            <a:solidFill>
              <a:srgbClr val="5A3D2C">
                <a:alpha val="3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05851" y="7372350"/>
            <a:ext cx="463972" cy="300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088910" y="7262813"/>
            <a:ext cx="955849" cy="481012"/>
          </a:xfrm>
          <a:prstGeom prst="roundRect">
            <a:avLst>
              <a:gd name="adj" fmla="val 50000"/>
            </a:avLst>
          </a:prstGeom>
          <a:ln w="14288">
            <a:solidFill>
              <a:srgbClr val="5A3D2C">
                <a:alpha val="3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1797" y="7372350"/>
            <a:ext cx="546274" cy="300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3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-914400" y="9491663"/>
            <a:ext cx="20116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Wellnetix Ltd · United Kingdom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200150"/>
            <a:ext cx="883605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633538"/>
            <a:ext cx="8273758" cy="2086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Carers hold everyone together, and quietly fall apart.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4024685"/>
            <a:ext cx="627888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carers are exhausted, isolated and under-supported. The work is relentless — and almost entirely invisible.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37775" y="1047750"/>
            <a:ext cx="7302475" cy="2016398"/>
          </a:xfrm>
          <a:prstGeom prst="roundRect">
            <a:avLst>
              <a:gd name="adj" fmla="val 1228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47350" y="1400175"/>
            <a:ext cx="713165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0347350" y="2352675"/>
            <a:ext cx="713165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carers say caring has harmed their mental health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37775" y="3292748"/>
            <a:ext cx="7302475" cy="2016398"/>
          </a:xfrm>
          <a:prstGeom prst="roundRect">
            <a:avLst>
              <a:gd name="adj" fmla="val 1228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47350" y="3645173"/>
            <a:ext cx="713165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in 5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0347350" y="4597673"/>
            <a:ext cx="713165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at risk of burnout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937775" y="5537746"/>
            <a:ext cx="7302475" cy="1055340"/>
          </a:xfrm>
          <a:prstGeom prst="roundRect">
            <a:avLst>
              <a:gd name="adj" fmla="val 23466"/>
            </a:avLst>
          </a:prstGeom>
          <a:gradFill rotWithShape="1">
            <a:gsLst>
              <a:gs pos="0">
                <a:srgbClr val="F4CDA6">
                  <a:alpha val="40000"/>
                </a:srgbClr>
              </a:gs>
              <a:gs pos="100000">
                <a:srgbClr val="D5A3B2">
                  <a:alpha val="35000"/>
                </a:srgbClr>
              </a:gs>
            </a:gsLst>
            <a:lin ang="3600000" scaled="0"/>
          </a:gradFill>
          <a:ln w="9525">
            <a:solidFill>
              <a:srgbClr val="EAD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47350" y="5852071"/>
            <a:ext cx="713165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don’t even call themselves a carer.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40448" y="9510713"/>
            <a:ext cx="9712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20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vast, invisible, growing population.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530748"/>
            <a:ext cx="7442374" cy="3543300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2575" y="2959373"/>
            <a:ext cx="707599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KINGDOM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2575" y="3507060"/>
            <a:ext cx="229972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5.8M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552575" y="4535760"/>
            <a:ext cx="22997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carers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176638" y="3507060"/>
            <a:ext cx="32585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£184bn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176638" y="4535760"/>
            <a:ext cx="32585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care each year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552575" y="5107260"/>
            <a:ext cx="6432724" cy="9525"/>
          </a:xfrm>
          <a:prstGeom prst="rect">
            <a:avLst/>
          </a:prstGeom>
          <a:solidFill>
            <a:srgbClr val="EAD9C8"/>
          </a:solidFill>
          <a:ln/>
        </p:spPr>
      </p:sp>
      <p:sp>
        <p:nvSpPr>
          <p:cNvPr id="11" name="Text 9"/>
          <p:cNvSpPr/>
          <p:nvPr/>
        </p:nvSpPr>
        <p:spPr>
          <a:xfrm>
            <a:off x="1552575" y="5345385"/>
            <a:ext cx="6625705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a second NHS.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833024" y="2530748"/>
            <a:ext cx="8407226" cy="3543300"/>
          </a:xfrm>
          <a:prstGeom prst="roundRect">
            <a:avLst>
              <a:gd name="adj" fmla="val 806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7849" y="2959373"/>
            <a:ext cx="8137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37849" y="3507060"/>
            <a:ext cx="449149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63M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337849" y="4535760"/>
            <a:ext cx="44914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caregivers · +45% since 2015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916323" y="3507060"/>
            <a:ext cx="281705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$1.01T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3916323" y="4535760"/>
            <a:ext cx="28170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care each year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337849" y="5107260"/>
            <a:ext cx="7397576" cy="9525"/>
          </a:xfrm>
          <a:prstGeom prst="rect">
            <a:avLst/>
          </a:prstGeom>
          <a:solidFill>
            <a:srgbClr val="EAD9C8"/>
          </a:solidFill>
          <a:ln/>
        </p:spPr>
      </p:sp>
      <p:sp>
        <p:nvSpPr>
          <p:cNvPr id="19" name="Text 17"/>
          <p:cNvSpPr/>
          <p:nvPr/>
        </p:nvSpPr>
        <p:spPr>
          <a:xfrm>
            <a:off x="9337849" y="5345385"/>
            <a:ext cx="7619504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1 in 4 adults.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47750" y="6397898"/>
            <a:ext cx="178117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Carers UK 2025 · AARP 2026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438662" y="9510713"/>
            <a:ext cx="9730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20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CARERS 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kind of carer.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73598"/>
            <a:ext cx="5232350" cy="177165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9225" y="2806973"/>
            <a:ext cx="152400" cy="152400"/>
          </a:xfrm>
          <a:prstGeom prst="ellipse">
            <a:avLst/>
          </a:prstGeom>
          <a:gradFill rotWithShape="1">
            <a:gsLst>
              <a:gs pos="0">
                <a:srgbClr val="F4CDA6">
                  <a:alpha val="100000"/>
                </a:srgbClr>
              </a:gs>
              <a:gs pos="100000">
                <a:srgbClr val="E4A79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419225" y="3149873"/>
            <a:ext cx="462408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Caring for a parent through dementia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27750" y="2473598"/>
            <a:ext cx="5232425" cy="177165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99225" y="2806973"/>
            <a:ext cx="152400" cy="152400"/>
          </a:xfrm>
          <a:prstGeom prst="ellipse">
            <a:avLst/>
          </a:prstGeom>
          <a:gradFill rotWithShape="1">
            <a:gsLst>
              <a:gs pos="0">
                <a:srgbClr val="E4A79E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6899225" y="3149873"/>
            <a:ext cx="46241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Caring for a partner through cancer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07825" y="2473598"/>
            <a:ext cx="5232350" cy="177165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79300" y="2806973"/>
            <a:ext cx="152400" cy="152400"/>
          </a:xfrm>
          <a:prstGeom prst="ellipse">
            <a:avLst/>
          </a:prstGeom>
          <a:gradFill rotWithShape="1">
            <a:gsLst>
              <a:gs pos="0">
                <a:srgbClr val="F4CDA6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12379300" y="3149873"/>
            <a:ext cx="462408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parent of a disabled or autistic child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4492898"/>
            <a:ext cx="5232350" cy="177165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9225" y="4826273"/>
            <a:ext cx="152400" cy="152400"/>
          </a:xfrm>
          <a:prstGeom prst="ellipse">
            <a:avLst/>
          </a:prstGeom>
          <a:gradFill rotWithShape="1">
            <a:gsLst>
              <a:gs pos="0">
                <a:srgbClr val="D5A3B2">
                  <a:alpha val="100000"/>
                </a:srgbClr>
              </a:gs>
              <a:gs pos="100000">
                <a:srgbClr val="E4A79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419225" y="5169173"/>
            <a:ext cx="462408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parent of an adult child living with mental illness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27750" y="4492898"/>
            <a:ext cx="5232425" cy="177165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99225" y="4826273"/>
            <a:ext cx="152400" cy="152400"/>
          </a:xfrm>
          <a:prstGeom prst="ellipse">
            <a:avLst/>
          </a:prstGeom>
          <a:gradFill rotWithShape="1">
            <a:gsLst>
              <a:gs pos="0">
                <a:srgbClr val="E4A79E">
                  <a:alpha val="100000"/>
                </a:srgbClr>
              </a:gs>
              <a:gs pos="100000">
                <a:srgbClr val="F4CDA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6899225" y="5169173"/>
            <a:ext cx="46241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young-adult carer, just turned 18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007825" y="4492898"/>
            <a:ext cx="5232350" cy="1771650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79300" y="4826273"/>
            <a:ext cx="152400" cy="152400"/>
          </a:xfrm>
          <a:prstGeom prst="ellipse">
            <a:avLst/>
          </a:prstGeom>
          <a:gradFill rotWithShape="1">
            <a:gsLst>
              <a:gs pos="0">
                <a:srgbClr val="D5A3B2">
                  <a:alpha val="100000"/>
                </a:srgbClr>
              </a:gs>
              <a:gs pos="100000">
                <a:srgbClr val="F4CDA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12379300" y="5169173"/>
            <a:ext cx="4938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Someone in the after of loss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38125" y="6683648"/>
            <a:ext cx="178117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lives, the same quiet weight.</a:t>
            </a:r>
            <a:endParaRPr lang="en-US" sz="25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432188" y="9510713"/>
            <a:ext cx="9795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20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TODAY’S SUPPORT FAILS THEM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built for the carer.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568848"/>
            <a:ext cx="5194250" cy="2747963"/>
          </a:xfrm>
          <a:prstGeom prst="roundRect">
            <a:avLst>
              <a:gd name="adj" fmla="val 970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3016523"/>
            <a:ext cx="468688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apps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14475" y="3668985"/>
            <a:ext cx="438862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medical and judgy — built around symptoms and diagnoses, not a carer’s life.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46800" y="2568848"/>
            <a:ext cx="5194325" cy="2747963"/>
          </a:xfrm>
          <a:prstGeom prst="roundRect">
            <a:avLst>
              <a:gd name="adj" fmla="val 970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525" y="3016523"/>
            <a:ext cx="4686962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apps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013525" y="3668985"/>
            <a:ext cx="438870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Pile on streaks, scores and guilt — one more thing to fail at on a hard day.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45925" y="2568848"/>
            <a:ext cx="5194325" cy="2747963"/>
          </a:xfrm>
          <a:prstGeom prst="roundRect">
            <a:avLst>
              <a:gd name="adj" fmla="val 970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2650" y="3016523"/>
            <a:ext cx="4686962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 services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512650" y="3668985"/>
            <a:ext cx="438870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and hard to reach — postcode lotteries, waiting lists, forms.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38125" y="5850210"/>
            <a:ext cx="178117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Carers don’t need another to-do list.</a:t>
            </a:r>
            <a:endParaRPr lang="en-US" sz="2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444243" y="9510713"/>
            <a:ext cx="9674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20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4CDA6">
                  <a:alpha val="100000"/>
                </a:srgbClr>
              </a:gs>
              <a:gs pos="48000">
                <a:srgbClr val="E4A79E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2348359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4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2781746"/>
            <a:ext cx="13735050" cy="1645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5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look after them. CARER looks after a little of you.</a:t>
            </a:r>
            <a:endParaRPr lang="en-US" sz="5550" dirty="0"/>
          </a:p>
        </p:txBody>
      </p:sp>
      <p:sp>
        <p:nvSpPr>
          <p:cNvPr id="5" name="Shape 3"/>
          <p:cNvSpPr/>
          <p:nvPr/>
        </p:nvSpPr>
        <p:spPr>
          <a:xfrm>
            <a:off x="1047750" y="4998393"/>
            <a:ext cx="3848100" cy="1440061"/>
          </a:xfrm>
          <a:prstGeom prst="roundRect">
            <a:avLst>
              <a:gd name="adj" fmla="val 15874"/>
            </a:avLst>
          </a:prstGeom>
          <a:solidFill>
            <a:srgbClr val="FAF2E8">
              <a:alpha val="7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5331768"/>
            <a:ext cx="325869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that listens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162550" y="4998393"/>
            <a:ext cx="3848100" cy="1440061"/>
          </a:xfrm>
          <a:prstGeom prst="roundRect">
            <a:avLst>
              <a:gd name="adj" fmla="val 15874"/>
            </a:avLst>
          </a:prstGeom>
          <a:solidFill>
            <a:srgbClr val="FAF2E8">
              <a:alpha val="7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14975" y="5331768"/>
            <a:ext cx="325869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your words — never verdicts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7350" y="4998393"/>
            <a:ext cx="3848100" cy="1440061"/>
          </a:xfrm>
          <a:prstGeom prst="roundRect">
            <a:avLst>
              <a:gd name="adj" fmla="val 15874"/>
            </a:avLst>
          </a:prstGeom>
          <a:solidFill>
            <a:srgbClr val="FAF2E8">
              <a:alpha val="7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29775" y="5331768"/>
            <a:ext cx="325869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scores you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392150" y="4998393"/>
            <a:ext cx="3848100" cy="1440061"/>
          </a:xfrm>
          <a:prstGeom prst="roundRect">
            <a:avLst>
              <a:gd name="adj" fmla="val 15874"/>
            </a:avLst>
          </a:prstGeom>
          <a:solidFill>
            <a:srgbClr val="FAF2E8">
              <a:alpha val="72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44575" y="5331768"/>
            <a:ext cx="325869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real help, when you want it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" y="7009954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5F4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light, kept.</a:t>
            </a:r>
            <a:endParaRPr lang="en-US" sz="28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F4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438066" y="9510713"/>
            <a:ext cx="9736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20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52538"/>
            <a:ext cx="1781175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feels like.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2705100" y="2279303"/>
            <a:ext cx="2819400" cy="5334000"/>
          </a:xfrm>
          <a:prstGeom prst="roundRect">
            <a:avLst>
              <a:gd name="adj" fmla="val 14865"/>
            </a:avLst>
          </a:prstGeom>
          <a:solidFill>
            <a:srgbClr val="3A2B21"/>
          </a:solidFill>
          <a:ln/>
          <a:effectLst>
            <a:outerShdw sx="100000" sy="100000" kx="0" ky="0" algn="bl" rotWithShape="0" blurRad="457200" dist="228600" dir="5400000">
              <a:srgbClr val="4A3528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00350" y="2374553"/>
            <a:ext cx="2628900" cy="5143500"/>
          </a:xfrm>
          <a:prstGeom prst="roundRect">
            <a:avLst>
              <a:gd name="adj" fmla="val 12681"/>
            </a:avLst>
          </a:prstGeom>
          <a:solidFill>
            <a:srgbClr val="F3E5D3"/>
          </a:solidFill>
          <a:ln/>
        </p:spPr>
      </p:sp>
      <p:sp>
        <p:nvSpPr>
          <p:cNvPr id="6" name="Text 4"/>
          <p:cNvSpPr/>
          <p:nvPr/>
        </p:nvSpPr>
        <p:spPr>
          <a:xfrm>
            <a:off x="3426619" y="4812953"/>
            <a:ext cx="15139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screen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72519" y="7822853"/>
            <a:ext cx="29529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companion that listens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057900" y="2279303"/>
            <a:ext cx="2819400" cy="5334000"/>
          </a:xfrm>
          <a:prstGeom prst="roundRect">
            <a:avLst>
              <a:gd name="adj" fmla="val 14865"/>
            </a:avLst>
          </a:prstGeom>
          <a:solidFill>
            <a:srgbClr val="3A2B21"/>
          </a:solidFill>
          <a:ln/>
          <a:effectLst>
            <a:outerShdw sx="100000" sy="100000" kx="0" ky="0" algn="bl" rotWithShape="0" blurRad="457200" dist="228600" dir="5400000">
              <a:srgbClr val="4A3528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53150" y="2374553"/>
            <a:ext cx="2628900" cy="5143500"/>
          </a:xfrm>
          <a:prstGeom prst="roundRect">
            <a:avLst>
              <a:gd name="adj" fmla="val 12681"/>
            </a:avLst>
          </a:prstGeom>
          <a:solidFill>
            <a:srgbClr val="F3E5D3"/>
          </a:solidFill>
          <a:ln/>
        </p:spPr>
      </p:sp>
      <p:sp>
        <p:nvSpPr>
          <p:cNvPr id="10" name="Text 8"/>
          <p:cNvSpPr/>
          <p:nvPr/>
        </p:nvSpPr>
        <p:spPr>
          <a:xfrm>
            <a:off x="6779419" y="4812953"/>
            <a:ext cx="15139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screen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81936" y="7822853"/>
            <a:ext cx="30484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words, remembered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410700" y="2279303"/>
            <a:ext cx="2819400" cy="5334000"/>
          </a:xfrm>
          <a:prstGeom prst="roundRect">
            <a:avLst>
              <a:gd name="adj" fmla="val 14865"/>
            </a:avLst>
          </a:prstGeom>
          <a:solidFill>
            <a:srgbClr val="3A2B21"/>
          </a:solidFill>
          <a:ln/>
          <a:effectLst>
            <a:outerShdw sx="100000" sy="100000" kx="0" ky="0" algn="bl" rotWithShape="0" blurRad="457200" dist="228600" dir="5400000">
              <a:srgbClr val="4A352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5950" y="2374553"/>
            <a:ext cx="2628900" cy="5143500"/>
          </a:xfrm>
          <a:prstGeom prst="roundRect">
            <a:avLst>
              <a:gd name="adj" fmla="val 12681"/>
            </a:avLst>
          </a:prstGeom>
          <a:solidFill>
            <a:srgbClr val="F3E5D3"/>
          </a:solidFill>
          <a:ln/>
        </p:spPr>
      </p:sp>
      <p:sp>
        <p:nvSpPr>
          <p:cNvPr id="14" name="Text 12"/>
          <p:cNvSpPr/>
          <p:nvPr/>
        </p:nvSpPr>
        <p:spPr>
          <a:xfrm>
            <a:off x="10132219" y="4812953"/>
            <a:ext cx="15139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screen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67937" y="7822853"/>
            <a:ext cx="27553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scores. No streaks.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763500" y="2279303"/>
            <a:ext cx="2819400" cy="5334000"/>
          </a:xfrm>
          <a:prstGeom prst="roundRect">
            <a:avLst>
              <a:gd name="adj" fmla="val 14865"/>
            </a:avLst>
          </a:prstGeom>
          <a:solidFill>
            <a:srgbClr val="3A2B21"/>
          </a:solidFill>
          <a:ln/>
          <a:effectLst>
            <a:outerShdw sx="100000" sy="100000" kx="0" ky="0" algn="bl" rotWithShape="0" blurRad="457200" dist="228600" dir="5400000">
              <a:srgbClr val="4A3528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858750" y="2374553"/>
            <a:ext cx="2628900" cy="5143500"/>
          </a:xfrm>
          <a:prstGeom prst="roundRect">
            <a:avLst>
              <a:gd name="adj" fmla="val 12681"/>
            </a:avLst>
          </a:prstGeom>
          <a:solidFill>
            <a:srgbClr val="F3E5D3"/>
          </a:solidFill>
          <a:ln/>
        </p:spPr>
      </p:sp>
      <p:sp>
        <p:nvSpPr>
          <p:cNvPr id="18" name="Text 16"/>
          <p:cNvSpPr/>
          <p:nvPr/>
        </p:nvSpPr>
        <p:spPr>
          <a:xfrm>
            <a:off x="13485019" y="4812953"/>
            <a:ext cx="15139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8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screen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113097" y="7822853"/>
            <a:ext cx="23322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Help, one tap away</a:t>
            </a:r>
            <a:endParaRPr lang="en-US" sz="1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454958" y="9510713"/>
            <a:ext cx="95674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20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52538"/>
            <a:ext cx="1781175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hold you, not to manage you.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279303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3975" y="2536478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chat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323975" y="2907953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 voice that listens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48263" y="2279303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4488" y="2536478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424488" y="2907953"/>
            <a:ext cx="34386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your words, never verdicts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48775" y="2279303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2536478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No-score reflection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525000" y="2907953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Notice, without measuring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49288" y="2279303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25513" y="2536478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space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3625513" y="2907953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alone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4014639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3975" y="4271814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grief space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323975" y="4643289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after of loss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48263" y="4014639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4488" y="4271814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journey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5424488" y="4643289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story, in your words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48775" y="4014639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5000" y="4271814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&amp; safeguarding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525000" y="4643289"/>
            <a:ext cx="34386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directions · free · offline · one tap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349288" y="4014639"/>
            <a:ext cx="3890962" cy="1525786"/>
          </a:xfrm>
          <a:prstGeom prst="roundRect">
            <a:avLst>
              <a:gd name="adj" fmla="val 12485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25513" y="4271814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Disease-aware signposting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3625513" y="4643289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real charities and real help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7750" y="5749975"/>
            <a:ext cx="3890962" cy="1205805"/>
          </a:xfrm>
          <a:prstGeom prst="roundRect">
            <a:avLst>
              <a:gd name="adj" fmla="val 15799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3975" y="6007150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notifications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323975" y="6378625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quiet hours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48263" y="5749975"/>
            <a:ext cx="3890962" cy="1205805"/>
          </a:xfrm>
          <a:prstGeom prst="roundRect">
            <a:avLst>
              <a:gd name="adj" fmla="val 15799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4488" y="6007150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5424488" y="6378625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48775" y="5749975"/>
            <a:ext cx="3890962" cy="1205805"/>
          </a:xfrm>
          <a:prstGeom prst="roundRect">
            <a:avLst>
              <a:gd name="adj" fmla="val 15799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5000" y="6007150"/>
            <a:ext cx="36723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or delete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9525000" y="6378625"/>
            <a:ext cx="36723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Anytime, in full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349288" y="5749975"/>
            <a:ext cx="3890962" cy="1205805"/>
          </a:xfrm>
          <a:prstGeom prst="roundRect">
            <a:avLst>
              <a:gd name="adj" fmla="val 15799"/>
            </a:avLst>
          </a:prstGeom>
          <a:gradFill rotWithShape="1">
            <a:gsLst>
              <a:gs pos="0">
                <a:srgbClr val="F4CDA6">
                  <a:alpha val="100000"/>
                </a:srgbClr>
              </a:gs>
              <a:gs pos="55000">
                <a:srgbClr val="E4A79E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3600000" scaled="0"/>
          </a:gra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47119" y="6105227"/>
            <a:ext cx="495300" cy="495300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16438438" y="9510713"/>
            <a:ext cx="9732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20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4A7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CONSTITUTION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FA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set of rules.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159398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530748"/>
            <a:ext cx="19414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13346" y="2549798"/>
            <a:ext cx="307359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score you.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448800" y="3159398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448800" y="2530748"/>
            <a:ext cx="25271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872960" y="2549798"/>
            <a:ext cx="483438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sits outside the AI model.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4007123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3378473"/>
            <a:ext cx="2501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69380" y="3397523"/>
            <a:ext cx="605697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words stay yours — never verdicts.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48800" y="4007123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448800" y="3378473"/>
            <a:ext cx="2634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883676" y="3397523"/>
            <a:ext cx="34552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 by design.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4854848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226198"/>
            <a:ext cx="25665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475854" y="4245248"/>
            <a:ext cx="76013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build a profile of the person you care for.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448800" y="4854848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448800" y="4226198"/>
            <a:ext cx="22554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845799" y="4245248"/>
            <a:ext cx="41595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every kind of carer.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5702573"/>
            <a:ext cx="7791450" cy="9525"/>
          </a:xfrm>
          <a:prstGeom prst="rect">
            <a:avLst/>
          </a:prstGeom>
          <a:solidFill>
            <a:srgbClr val="E4A79E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47750" y="5073923"/>
            <a:ext cx="25174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470943" y="5092973"/>
            <a:ext cx="63794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3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streaks, no guilt, no engagement traps.</a:t>
            </a:r>
            <a:endParaRPr lang="en-US" sz="22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4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6438066" y="9510713"/>
            <a:ext cx="97363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C9A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20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ETHICS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52538"/>
            <a:ext cx="1781175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is the spine, not a feature.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279303"/>
            <a:ext cx="3876675" cy="2157413"/>
          </a:xfrm>
          <a:prstGeom prst="roundRect">
            <a:avLst>
              <a:gd name="adj" fmla="val 10596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1125" y="2593628"/>
            <a:ext cx="35309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81125" y="3069878"/>
            <a:ext cx="330622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weight is too much to carry alone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153025" y="2279303"/>
            <a:ext cx="3876675" cy="2157413"/>
          </a:xfrm>
          <a:prstGeom prst="roundRect">
            <a:avLst>
              <a:gd name="adj" fmla="val 10596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2593628"/>
            <a:ext cx="330622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person you care for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86400" y="3431828"/>
            <a:ext cx="330622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are the one in danger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58300" y="2279303"/>
            <a:ext cx="3876675" cy="2157413"/>
          </a:xfrm>
          <a:prstGeom prst="roundRect">
            <a:avLst>
              <a:gd name="adj" fmla="val 10596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91675" y="2593628"/>
            <a:ext cx="35309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 from others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91675" y="3069878"/>
            <a:ext cx="330622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in your life is the danger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3363575" y="2279303"/>
            <a:ext cx="3876675" cy="2157413"/>
          </a:xfrm>
          <a:prstGeom prst="roundRect">
            <a:avLst>
              <a:gd name="adj" fmla="val 10596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96950" y="2593628"/>
            <a:ext cx="35309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Safeguarding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696950" y="3069878"/>
            <a:ext cx="330622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a child or vulnerable adult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4741515"/>
            <a:ext cx="965374" cy="490538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4855815"/>
            <a:ext cx="5462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146474" y="4741515"/>
            <a:ext cx="1151855" cy="490538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394124" y="4855815"/>
            <a:ext cx="73275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31679" y="4741515"/>
            <a:ext cx="1308720" cy="490538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79329" y="4855815"/>
            <a:ext cx="8896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73749" y="4741515"/>
            <a:ext cx="2587451" cy="490538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21399" y="4855815"/>
            <a:ext cx="21697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before sign-in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94550" y="4741515"/>
            <a:ext cx="2668935" cy="490538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842200" y="4855815"/>
            <a:ext cx="225370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the AI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7750" y="5574953"/>
            <a:ext cx="7943850" cy="19050"/>
          </a:xfrm>
          <a:prstGeom prst="rect">
            <a:avLst/>
          </a:prstGeom>
          <a:solidFill>
            <a:srgbClr val="EAD9C8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750" y="5784503"/>
            <a:ext cx="8182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Region-aware crisis resources.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+ US now; a safe global fallback everywhere else.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96400" y="5574953"/>
            <a:ext cx="7943850" cy="19050"/>
          </a:xfrm>
          <a:prstGeom prst="rect">
            <a:avLst/>
          </a:prstGeom>
          <a:solidFill>
            <a:srgbClr val="EAD9C8"/>
          </a:solidFill>
          <a:ln/>
        </p:spPr>
      </p:sp>
      <p:sp>
        <p:nvSpPr>
          <p:cNvPr id="29" name="Text 27"/>
          <p:cNvSpPr/>
          <p:nvPr/>
        </p:nvSpPr>
        <p:spPr>
          <a:xfrm>
            <a:off x="9296400" y="5784503"/>
            <a:ext cx="81821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GDPR, consent-first, clinical-safety + DPO governance.</a:t>
            </a:r>
            <a:endParaRPr lang="en-US" sz="19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486882" y="9510713"/>
            <a:ext cx="92481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20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MOAT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52538"/>
            <a:ext cx="1781175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architecture. Safe by design.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317403"/>
            <a:ext cx="5206975" cy="2833688"/>
          </a:xfrm>
          <a:prstGeom prst="roundRect">
            <a:avLst>
              <a:gd name="adj" fmla="val 8739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6375" y="2707928"/>
            <a:ext cx="478469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AI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76375" y="3274665"/>
            <a:ext cx="448021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the phone. Works offline. Your words don’t leave the device by default.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40475" y="2317403"/>
            <a:ext cx="5207050" cy="2833688"/>
          </a:xfrm>
          <a:prstGeom prst="roundRect">
            <a:avLst>
              <a:gd name="adj" fmla="val 8739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9100" y="2707928"/>
            <a:ext cx="478478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deterministic safety spine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969100" y="3274665"/>
            <a:ext cx="4480294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 gate and classifiers run outside the warm model — safety can’t be bypassed. Independently red-teamed; all tests green.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33275" y="2317403"/>
            <a:ext cx="5206975" cy="2833688"/>
          </a:xfrm>
          <a:prstGeom prst="roundRect">
            <a:avLst>
              <a:gd name="adj" fmla="val 8739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61900" y="2707928"/>
            <a:ext cx="478469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backend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461900" y="3274665"/>
            <a:ext cx="4480217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All-API architecture with end-to-end encryption — no lock-in, no data lake.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5570190"/>
            <a:ext cx="16192500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4CDA6">
                  <a:alpha val="40000"/>
                </a:srgbClr>
              </a:gs>
              <a:gs pos="100000">
                <a:srgbClr val="D5A3B2">
                  <a:alpha val="35000"/>
                </a:srgbClr>
              </a:gs>
            </a:gsLst>
            <a:lin ang="3600000" scaled="0"/>
          </a:gradFill>
          <a:ln w="9525">
            <a:solidFill>
              <a:srgbClr val="EA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76375" y="5970240"/>
            <a:ext cx="153200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35809" y="5884515"/>
            <a:ext cx="1209021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Carer-specific design · a safety architecture competitors don’t have · privacy by default</a:t>
            </a:r>
            <a:endParaRPr lang="en-US" sz="2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538079" y="9510713"/>
            <a:ext cx="87362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20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evidence, built to a constitution.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530748"/>
            <a:ext cx="7972425" cy="1919288"/>
          </a:xfrm>
          <a:prstGeom prst="roundRect">
            <a:avLst>
              <a:gd name="adj" fmla="val 11911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2902223"/>
            <a:ext cx="786860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+ lived experience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457325" y="3335610"/>
            <a:ext cx="736787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carer-wellbeing research and PPIE — carers shaping the product throughout.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67825" y="2530748"/>
            <a:ext cx="7972425" cy="1919288"/>
          </a:xfrm>
          <a:prstGeom prst="roundRect">
            <a:avLst>
              <a:gd name="adj" fmla="val 11911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400" y="2902223"/>
            <a:ext cx="786860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written, enforced constitution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677400" y="3335610"/>
            <a:ext cx="736787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 and consent-first — rules the product cannot break.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47750" y="4697685"/>
            <a:ext cx="7972425" cy="1919288"/>
          </a:xfrm>
          <a:prstGeom prst="roundRect">
            <a:avLst>
              <a:gd name="adj" fmla="val 11911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7325" y="5069160"/>
            <a:ext cx="786860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Signposting, not advice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457325" y="5502548"/>
            <a:ext cx="736787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CARER points to real help — it never diagnoses, treats or prescribes.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67825" y="4697685"/>
            <a:ext cx="7972425" cy="1919288"/>
          </a:xfrm>
          <a:prstGeom prst="roundRect">
            <a:avLst>
              <a:gd name="adj" fmla="val 11911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7400" y="5069160"/>
            <a:ext cx="786860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tested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677400" y="5502548"/>
            <a:ext cx="78686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Red-teamed safety and grounding, verified by outside eyes.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38125" y="7036073"/>
            <a:ext cx="178117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privacy-preserving, consent-based foundation for carer-wellbeing research at scale.</a:t>
            </a:r>
            <a:endParaRPr lang="en-US" sz="2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491645" y="9510713"/>
            <a:ext cx="92005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20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52538"/>
            <a:ext cx="1781175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 market meeting a vast need.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33475" y="2326928"/>
            <a:ext cx="5543550" cy="5543550"/>
          </a:xfrm>
          <a:prstGeom prst="ellipse">
            <a:avLst/>
          </a:prstGeom>
          <a:solidFill>
            <a:srgbClr val="F4CDA6">
              <a:alpha val="45000"/>
            </a:srgbClr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29546" y="2974628"/>
            <a:ext cx="62753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85975" y="3584228"/>
            <a:ext cx="3638550" cy="3638550"/>
          </a:xfrm>
          <a:prstGeom prst="ellipse">
            <a:avLst/>
          </a:prstGeom>
          <a:solidFill>
            <a:srgbClr val="E4A79E">
              <a:alpha val="50000"/>
            </a:srgbClr>
          </a:solidFill>
          <a:ln w="9525">
            <a:solidFill>
              <a:srgbClr val="E0BF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4663" y="4250978"/>
            <a:ext cx="65729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8F4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00375" y="4746278"/>
            <a:ext cx="1809750" cy="18097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9" name="Text 7"/>
          <p:cNvSpPr/>
          <p:nvPr/>
        </p:nvSpPr>
        <p:spPr>
          <a:xfrm>
            <a:off x="2962275" y="4746278"/>
            <a:ext cx="188595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225" kern="0" dirty="0">
                <a:solidFill>
                  <a:srgbClr val="FAF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24750" y="3955703"/>
            <a:ext cx="9715500" cy="9525"/>
          </a:xfrm>
          <a:prstGeom prst="rect">
            <a:avLst/>
          </a:prstGeom>
          <a:solidFill>
            <a:srgbClr val="EAD9C8"/>
          </a:solidFill>
          <a:ln/>
        </p:spPr>
      </p:sp>
      <p:sp>
        <p:nvSpPr>
          <p:cNvPr id="11" name="Text 9"/>
          <p:cNvSpPr/>
          <p:nvPr/>
        </p:nvSpPr>
        <p:spPr>
          <a:xfrm>
            <a:off x="7524750" y="2295971"/>
            <a:ext cx="10687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DIGITAL MENTAL HEALTH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24750" y="2653159"/>
            <a:ext cx="10687050" cy="6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~$33bn → ~$180bn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524750" y="3362771"/>
            <a:ext cx="1068705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→ 2035, ~18.5% CAGR · mental-health apps ~$9bn → ~$23bn by 2030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524750" y="5910709"/>
            <a:ext cx="9715500" cy="9525"/>
          </a:xfrm>
          <a:prstGeom prst="rect">
            <a:avLst/>
          </a:prstGeom>
          <a:solidFill>
            <a:srgbClr val="EAD9C8"/>
          </a:solidFill>
          <a:ln/>
        </p:spPr>
      </p:sp>
      <p:sp>
        <p:nvSpPr>
          <p:cNvPr id="15" name="Text 13"/>
          <p:cNvSpPr/>
          <p:nvPr/>
        </p:nvSpPr>
        <p:spPr>
          <a:xfrm>
            <a:off x="7524750" y="4250978"/>
            <a:ext cx="10687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LAUNCH MARKETS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24750" y="4608165"/>
            <a:ext cx="10687050" cy="6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~69M adult carers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7524750" y="5317778"/>
            <a:ext cx="1068705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5.8M + US 63M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524750" y="6205984"/>
            <a:ext cx="10687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THE WEDGE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24750" y="6563171"/>
            <a:ext cx="1000696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early, reachable wedge of UK adult carers — via early access and carer-organisation &amp; employer partnerships.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7524750" y="7620446"/>
            <a:ext cx="10687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industry market reports 2025; Carers UK; AARP.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489859" y="9510713"/>
            <a:ext cx="92184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first, then the world, safely.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530748"/>
            <a:ext cx="4851350" cy="1895475"/>
          </a:xfrm>
          <a:prstGeom prst="roundRect">
            <a:avLst>
              <a:gd name="adj" fmla="val 12060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2883173"/>
            <a:ext cx="447733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38275" y="3392760"/>
            <a:ext cx="44773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UK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438275" y="3788048"/>
            <a:ext cx="44773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Adults, 18+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146750" y="3283223"/>
            <a:ext cx="400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A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718250" y="2530748"/>
            <a:ext cx="4851425" cy="1895475"/>
          </a:xfrm>
          <a:prstGeom prst="roundRect">
            <a:avLst>
              <a:gd name="adj" fmla="val 12060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8775" y="2883173"/>
            <a:ext cx="447741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108775" y="3392760"/>
            <a:ext cx="44774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7108775" y="3788048"/>
            <a:ext cx="44774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resources localised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817325" y="3283223"/>
            <a:ext cx="400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A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388825" y="2530748"/>
            <a:ext cx="4851425" cy="1895475"/>
          </a:xfrm>
          <a:prstGeom prst="roundRect">
            <a:avLst>
              <a:gd name="adj" fmla="val 12060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79350" y="2883173"/>
            <a:ext cx="447741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779350" y="3392760"/>
            <a:ext cx="447741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countries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2779350" y="3788048"/>
            <a:ext cx="44774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gates each market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47750" y="5007248"/>
            <a:ext cx="16209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68947" y="4883423"/>
            <a:ext cx="4967734" cy="504825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016597" y="4997723"/>
            <a:ext cx="46214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Carer charities — Carers UK, Carers Trust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7984331" y="4883423"/>
            <a:ext cx="2943820" cy="504825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31981" y="4997723"/>
            <a:ext cx="25368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NHS &amp; local authorities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175802" y="4883423"/>
            <a:ext cx="3923035" cy="504825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423452" y="4997723"/>
            <a:ext cx="35454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carer-benefit schemes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5346487" y="4883423"/>
            <a:ext cx="1633612" cy="504825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594137" y="4997723"/>
            <a:ext cx="12145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750" y="5635898"/>
            <a:ext cx="2229073" cy="504825"/>
          </a:xfrm>
          <a:prstGeom prst="roundRect">
            <a:avLst>
              <a:gd name="adj" fmla="val 50000"/>
            </a:avLst>
          </a:prstGeom>
          <a:solidFill>
            <a:srgbClr val="A46349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5750198"/>
            <a:ext cx="18099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&amp; social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047750" y="6559823"/>
            <a:ext cx="178117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removes all friction.</a:t>
            </a:r>
            <a:endParaRPr lang="en-US" sz="25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483385" y="9510713"/>
            <a:ext cx="9283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20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 carers. Sustainable by design.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530748"/>
            <a:ext cx="7943850" cy="2613050"/>
          </a:xfrm>
          <a:prstGeom prst="roundRect">
            <a:avLst>
              <a:gd name="adj" fmla="val 10206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2978423"/>
            <a:ext cx="76695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33525" y="3411810"/>
            <a:ext cx="7181469" cy="89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is free — for accessibility, and for trust. Crisis support is always free, for everyone.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296400" y="2530748"/>
            <a:ext cx="7943850" cy="2613050"/>
          </a:xfrm>
          <a:prstGeom prst="roundRect">
            <a:avLst>
              <a:gd name="adj" fmla="val 10206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2175" y="2978423"/>
            <a:ext cx="76695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2175" y="3411810"/>
            <a:ext cx="7181469" cy="132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optional supporter tier and donations, plus partnerships with the NHS, councils, employers and charities.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47750" y="5562898"/>
            <a:ext cx="16192500" cy="976312"/>
          </a:xfrm>
          <a:prstGeom prst="roundRect">
            <a:avLst>
              <a:gd name="adj" fmla="val 23415"/>
            </a:avLst>
          </a:prstGeom>
          <a:gradFill rotWithShape="1">
            <a:gsLst>
              <a:gs pos="0">
                <a:srgbClr val="F4CDA6">
                  <a:alpha val="40000"/>
                </a:srgbClr>
              </a:gs>
              <a:gs pos="100000">
                <a:srgbClr val="D5A3B2">
                  <a:alpha val="35000"/>
                </a:srgbClr>
              </a:gs>
            </a:gsLst>
            <a:lin ang="3600000" scaled="0"/>
          </a:gradFill>
          <a:ln w="9525">
            <a:solidFill>
              <a:srgbClr val="EAD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3488" y="5877223"/>
            <a:ext cx="15821025" cy="385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by charging carers. Never by selling data.</a:t>
            </a:r>
            <a:endParaRPr lang="en-US" sz="2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495440" y="9510713"/>
            <a:ext cx="91626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20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382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52538"/>
            <a:ext cx="1781175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3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CARER sits.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241203"/>
            <a:ext cx="7277100" cy="5753100"/>
          </a:xfrm>
          <a:prstGeom prst="roundRect">
            <a:avLst>
              <a:gd name="adj" fmla="val 3974"/>
            </a:avLst>
          </a:prstGeom>
          <a:solidFill>
            <a:srgbClr val="E0CDBA"/>
          </a:solidFill>
          <a:ln w="19050">
            <a:solidFill>
              <a:srgbClr val="E0CD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2260253"/>
            <a:ext cx="3609975" cy="2847975"/>
          </a:xfrm>
          <a:prstGeom prst="rect">
            <a:avLst/>
          </a:prstGeom>
          <a:solidFill>
            <a:srgbClr val="FBF5E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526953"/>
            <a:ext cx="330041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 · Generic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960340"/>
            <a:ext cx="3300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Headspace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3341340"/>
            <a:ext cx="3300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695825" y="2260253"/>
            <a:ext cx="3609975" cy="2847975"/>
          </a:xfrm>
          <a:prstGeom prst="rect">
            <a:avLst/>
          </a:prstGeom>
          <a:gradFill rotWithShape="1">
            <a:gsLst>
              <a:gs pos="0">
                <a:srgbClr val="F4CDA6">
                  <a:alpha val="100000"/>
                </a:srgbClr>
              </a:gs>
              <a:gs pos="55000">
                <a:srgbClr val="E4A79E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5000625" y="2526953"/>
            <a:ext cx="3090386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 · Carer-specific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0625" y="3284190"/>
            <a:ext cx="400050" cy="4000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14975" y="3241328"/>
            <a:ext cx="10193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000625" y="3841403"/>
            <a:ext cx="309038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 here — private, on-device, safety-first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66800" y="5127278"/>
            <a:ext cx="3609975" cy="2847975"/>
          </a:xfrm>
          <a:prstGeom prst="rect">
            <a:avLst/>
          </a:prstGeom>
          <a:solidFill>
            <a:srgbClr val="FBF5EC"/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5393978"/>
            <a:ext cx="330041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· Generic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71600" y="5827365"/>
            <a:ext cx="3300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Wysa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371600" y="6208365"/>
            <a:ext cx="3300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Woebot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4695825" y="5127278"/>
            <a:ext cx="3609975" cy="2847975"/>
          </a:xfrm>
          <a:prstGeom prst="rect">
            <a:avLst/>
          </a:prstGeom>
          <a:solidFill>
            <a:srgbClr val="FBF5EC"/>
          </a:solidFill>
          <a:ln/>
        </p:spPr>
      </p:sp>
      <p:sp>
        <p:nvSpPr>
          <p:cNvPr id="19" name="Text 16"/>
          <p:cNvSpPr/>
          <p:nvPr/>
        </p:nvSpPr>
        <p:spPr>
          <a:xfrm>
            <a:off x="5000625" y="5393978"/>
            <a:ext cx="330041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· Carer-specific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00625" y="5827365"/>
            <a:ext cx="3300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5000625" y="6208365"/>
            <a:ext cx="33004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Carers UK tools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8991600" y="3658046"/>
            <a:ext cx="90735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991600" y="4281934"/>
            <a:ext cx="114300" cy="11430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24" name="Text 21"/>
          <p:cNvSpPr/>
          <p:nvPr/>
        </p:nvSpPr>
        <p:spPr>
          <a:xfrm>
            <a:off x="9258300" y="4148584"/>
            <a:ext cx="20817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Carer-specific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8991600" y="4805809"/>
            <a:ext cx="114300" cy="11430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26" name="Text 23"/>
          <p:cNvSpPr/>
          <p:nvPr/>
        </p:nvSpPr>
        <p:spPr>
          <a:xfrm>
            <a:off x="9258300" y="4672459"/>
            <a:ext cx="17517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8991600" y="5329684"/>
            <a:ext cx="114300" cy="11430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28" name="Text 25"/>
          <p:cNvSpPr/>
          <p:nvPr/>
        </p:nvSpPr>
        <p:spPr>
          <a:xfrm>
            <a:off x="9258300" y="5196334"/>
            <a:ext cx="2848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on-device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8991600" y="5853559"/>
            <a:ext cx="114300" cy="11430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30" name="Text 27"/>
          <p:cNvSpPr/>
          <p:nvPr/>
        </p:nvSpPr>
        <p:spPr>
          <a:xfrm>
            <a:off x="9258300" y="5720209"/>
            <a:ext cx="16445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Safety-first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8991600" y="6377434"/>
            <a:ext cx="114300" cy="11430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32" name="Text 29"/>
          <p:cNvSpPr/>
          <p:nvPr/>
        </p:nvSpPr>
        <p:spPr>
          <a:xfrm>
            <a:off x="9258300" y="6244084"/>
            <a:ext cx="13505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Anti-guilt</a:t>
            </a:r>
            <a:endParaRPr lang="en-US" sz="2175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6489338" y="9510713"/>
            <a:ext cx="9223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20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safe, and ready.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92648"/>
            <a:ext cx="7905750" cy="847725"/>
          </a:xfrm>
          <a:prstGeom prst="roundRect">
            <a:avLst>
              <a:gd name="adj" fmla="val 2247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075" y="2830785"/>
            <a:ext cx="171450" cy="1714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6" name="Text 4"/>
          <p:cNvSpPr/>
          <p:nvPr/>
        </p:nvSpPr>
        <p:spPr>
          <a:xfrm>
            <a:off x="1724025" y="2749823"/>
            <a:ext cx="37489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feature-complete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334500" y="2492648"/>
            <a:ext cx="7905750" cy="847725"/>
          </a:xfrm>
          <a:prstGeom prst="roundRect">
            <a:avLst>
              <a:gd name="adj" fmla="val 2247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8825" y="2830785"/>
            <a:ext cx="171450" cy="1714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9" name="Text 7"/>
          <p:cNvSpPr/>
          <p:nvPr/>
        </p:nvSpPr>
        <p:spPr>
          <a:xfrm>
            <a:off x="10010775" y="2749823"/>
            <a:ext cx="72576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gates green — crisis red-team + grounding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47750" y="3530873"/>
            <a:ext cx="7905750" cy="847725"/>
          </a:xfrm>
          <a:prstGeom prst="roundRect">
            <a:avLst>
              <a:gd name="adj" fmla="val 2247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075" y="3869010"/>
            <a:ext cx="171450" cy="1714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12" name="Text 10"/>
          <p:cNvSpPr/>
          <p:nvPr/>
        </p:nvSpPr>
        <p:spPr>
          <a:xfrm>
            <a:off x="1724025" y="3788048"/>
            <a:ext cx="46801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Region-aware crisis support live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334500" y="3530873"/>
            <a:ext cx="7905750" cy="847725"/>
          </a:xfrm>
          <a:prstGeom prst="roundRect">
            <a:avLst>
              <a:gd name="adj" fmla="val 2247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8825" y="3869010"/>
            <a:ext cx="171450" cy="1714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10775" y="3788048"/>
            <a:ext cx="35888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website ready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047750" y="4569098"/>
            <a:ext cx="7905750" cy="847725"/>
          </a:xfrm>
          <a:prstGeom prst="roundRect">
            <a:avLst>
              <a:gd name="adj" fmla="val 2247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2075" y="4907235"/>
            <a:ext cx="171450" cy="1714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18" name="Text 16"/>
          <p:cNvSpPr/>
          <p:nvPr/>
        </p:nvSpPr>
        <p:spPr>
          <a:xfrm>
            <a:off x="1724025" y="4826273"/>
            <a:ext cx="63300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 Store + Google Play asset kit ready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9334500" y="4569098"/>
            <a:ext cx="7905750" cy="847725"/>
          </a:xfrm>
          <a:prstGeom prst="roundRect">
            <a:avLst>
              <a:gd name="adj" fmla="val 2247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8825" y="4907235"/>
            <a:ext cx="171450" cy="171450"/>
          </a:xfrm>
          <a:prstGeom prst="ellipse">
            <a:avLst/>
          </a:prstGeom>
          <a:solidFill>
            <a:srgbClr val="A4634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0775" y="4826273"/>
            <a:ext cx="2186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early access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238125" y="5874023"/>
            <a:ext cx="178117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Pre-launch — a real, reviewable product. No vanity metrics.</a:t>
            </a:r>
            <a:endParaRPr lang="en-US" sz="2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501690" y="9510713"/>
            <a:ext cx="91001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20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530748"/>
            <a:ext cx="5194250" cy="3073598"/>
          </a:xfrm>
          <a:prstGeom prst="roundRect">
            <a:avLst>
              <a:gd name="adj" fmla="val 8677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940323"/>
            <a:ext cx="47287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95425" y="3411810"/>
            <a:ext cx="47287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UK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495425" y="3943276"/>
            <a:ext cx="47287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the on-device model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95425" y="4474741"/>
            <a:ext cx="442786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Solicitor / ICO + clinical-safety sign-off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46800" y="2530748"/>
            <a:ext cx="5194325" cy="3073598"/>
          </a:xfrm>
          <a:prstGeom prst="roundRect">
            <a:avLst>
              <a:gd name="adj" fmla="val 8677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4475" y="2940323"/>
            <a:ext cx="472887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4475" y="3411810"/>
            <a:ext cx="47288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market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6994475" y="3943276"/>
            <a:ext cx="47288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Carer-org &amp; employer partnerships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994475" y="4474741"/>
            <a:ext cx="47288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validation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045925" y="2530748"/>
            <a:ext cx="5194325" cy="3073598"/>
          </a:xfrm>
          <a:prstGeom prst="roundRect">
            <a:avLst>
              <a:gd name="adj" fmla="val 8677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93600" y="2940323"/>
            <a:ext cx="472887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93600" y="3411810"/>
            <a:ext cx="47288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countries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2493600" y="3943276"/>
            <a:ext cx="47288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personalisation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493600" y="4474741"/>
            <a:ext cx="442794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for carer-wellbeing research</a:t>
            </a:r>
            <a:endParaRPr lang="en-US" sz="2025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489635" y="9510713"/>
            <a:ext cx="9220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20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47788"/>
            <a:ext cx="1781175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Who’s behind CARER.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2492648"/>
            <a:ext cx="16192500" cy="1604963"/>
          </a:xfrm>
          <a:prstGeom prst="roundRect">
            <a:avLst>
              <a:gd name="adj" fmla="val 15430"/>
            </a:avLst>
          </a:prstGeom>
          <a:gradFill rotWithShape="1">
            <a:gsLst>
              <a:gs pos="0">
                <a:srgbClr val="F4CDA6">
                  <a:alpha val="40000"/>
                </a:srgbClr>
              </a:gs>
              <a:gs pos="100000">
                <a:srgbClr val="D5A3B2">
                  <a:alpha val="35000"/>
                </a:srgbClr>
              </a:gs>
            </a:gsLst>
            <a:lin ang="3600000" scaled="0"/>
          </a:gradFill>
          <a:ln w="9525">
            <a:solidFill>
              <a:srgbClr val="EAD9C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4475" y="3009379"/>
            <a:ext cx="571500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1725" y="2883173"/>
            <a:ext cx="55632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Wellnetix Ltd · United Kingdom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2371725" y="3397523"/>
            <a:ext cx="55632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mission-driven team.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047750" y="4402410"/>
            <a:ext cx="5219700" cy="1809750"/>
          </a:xfrm>
          <a:prstGeom prst="roundRect">
            <a:avLst>
              <a:gd name="adj" fmla="val 1263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38275" y="4754835"/>
            <a:ext cx="488251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Clinical-safety lead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438275" y="5169173"/>
            <a:ext cx="45718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accountability for safety decisions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6534150" y="4402410"/>
            <a:ext cx="5219700" cy="1809750"/>
          </a:xfrm>
          <a:prstGeom prst="roundRect">
            <a:avLst>
              <a:gd name="adj" fmla="val 1263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24675" y="4754835"/>
            <a:ext cx="488251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Data-protection officer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6924675" y="5169173"/>
            <a:ext cx="488251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of consent and privacy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2020550" y="4402410"/>
            <a:ext cx="5219700" cy="1809750"/>
          </a:xfrm>
          <a:prstGeom prst="roundRect">
            <a:avLst>
              <a:gd name="adj" fmla="val 12632"/>
            </a:avLst>
          </a:prstGeom>
          <a:solidFill>
            <a:srgbClr val="FFFDF8"/>
          </a:solidFill>
          <a:ln w="9525">
            <a:solidFill>
              <a:srgbClr val="EAD9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11075" y="4754835"/>
            <a:ext cx="488251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Lived-experience panel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2411075" y="5169173"/>
            <a:ext cx="488251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8A70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PPIE — carers shaping every decision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1047750" y="6555060"/>
            <a:ext cx="178117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shown; names to be added.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9541669"/>
            <a:ext cx="247650" cy="2476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04925" y="952023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463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489338" y="9510713"/>
            <a:ext cx="92236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08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· 20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4CDA6">
                  <a:alpha val="100000"/>
                </a:srgbClr>
              </a:gs>
              <a:gs pos="48000">
                <a:srgbClr val="E4A79E">
                  <a:alpha val="100000"/>
                </a:srgbClr>
              </a:gs>
              <a:gs pos="100000">
                <a:srgbClr val="D5A3B2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2326481"/>
            <a:ext cx="14716125" cy="15216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950" spc="-37" kern="0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us keep a little light for the people who hold everyone else.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047750" y="4381500"/>
            <a:ext cx="5219700" cy="1959769"/>
          </a:xfrm>
          <a:prstGeom prst="roundRect">
            <a:avLst>
              <a:gd name="adj" fmla="val 12637"/>
            </a:avLst>
          </a:prstGeom>
          <a:solidFill>
            <a:srgbClr val="FAF2E8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4752975"/>
            <a:ext cx="48406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7325" y="5148263"/>
            <a:ext cx="48406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57325" y="5624513"/>
            <a:ext cx="484060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7A6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ask to be set.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534150" y="4381500"/>
            <a:ext cx="5219700" cy="1959769"/>
          </a:xfrm>
          <a:prstGeom prst="roundRect">
            <a:avLst>
              <a:gd name="adj" fmla="val 12637"/>
            </a:avLst>
          </a:prstGeom>
          <a:solidFill>
            <a:srgbClr val="FAF2E8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3725" y="4752975"/>
            <a:ext cx="48406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3725" y="5148263"/>
            <a:ext cx="453256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on carer-wellbeing validation.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20550" y="4381500"/>
            <a:ext cx="5219700" cy="1959769"/>
          </a:xfrm>
          <a:prstGeom prst="roundRect">
            <a:avLst>
              <a:gd name="adj" fmla="val 12637"/>
            </a:avLst>
          </a:prstGeom>
          <a:solidFill>
            <a:srgbClr val="FAF2E8">
              <a:alpha val="78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0125" y="4752975"/>
            <a:ext cx="48406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A46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430125" y="5148263"/>
            <a:ext cx="48406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A35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early access.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750" y="6950869"/>
            <a:ext cx="495300" cy="4953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71650" y="7003256"/>
            <a:ext cx="298878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4A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light, kept.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4511338" y="7055644"/>
            <a:ext cx="30018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nimind@wellnetixltd.com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6440448" y="9510713"/>
            <a:ext cx="9712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F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20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2026-07-03T17:36:26Z</dcterms:created>
  <dcterms:modified xsi:type="dcterms:W3CDTF">2026-07-03T17:36:26Z</dcterms:modified>
</cp:coreProperties>
</file>